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Roboto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jCTm+vWUVSHWPt75ghSx5oDd1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10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1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217920" y="-914400"/>
            <a:ext cx="4114800" cy="4114800"/>
          </a:xfrm>
          <a:prstGeom prst="ellipse">
            <a:avLst/>
          </a:prstGeom>
          <a:solidFill>
            <a:srgbClr val="22523A">
              <a:alpha val="7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132320" y="2286000"/>
            <a:ext cx="2560200" cy="2560200"/>
          </a:xfrm>
          <a:prstGeom prst="ellipse">
            <a:avLst/>
          </a:prstGeom>
          <a:solidFill>
            <a:srgbClr val="2E7D52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8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11480" y="457200"/>
            <a:ext cx="7772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ShiftGuard10 v7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11480" y="138988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Distribution-Shift Robust Image Classification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11480" y="1847088"/>
            <a:ext cx="7772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via WideResNet-40-10 with 3-Seed Ensemble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11475" y="2514600"/>
            <a:ext cx="1516500" cy="740700"/>
          </a:xfrm>
          <a:prstGeom prst="rect">
            <a:avLst/>
          </a:prstGeom>
          <a:solidFill>
            <a:srgbClr val="22523A"/>
          </a:solidFill>
          <a:ln cap="flat" cmpd="sng" w="9800">
            <a:solidFill>
              <a:srgbClr val="3DA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500" lIns="70500" spcFirstLastPara="1" rIns="70500" wrap="square" tIns="7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11475" y="2549867"/>
            <a:ext cx="1516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250" lIns="70500" spcFirstLastPara="1" rIns="70500" wrap="square" tIns="35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97"/>
              <a:buFont typeface="Georgia"/>
              <a:buNone/>
            </a:pPr>
            <a:r>
              <a:rPr b="1" lang="en-US" sz="1543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Aarnav gupta</a:t>
            </a:r>
            <a:endParaRPr b="0" i="0" sz="15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11523" y="3008375"/>
            <a:ext cx="15165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250" lIns="70500" spcFirstLastPara="1" rIns="70500" wrap="square" tIns="35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849"/>
              <a:buFont typeface="Calibri"/>
              <a:buNone/>
            </a:pPr>
            <a:r>
              <a:rPr lang="en-US" sz="1234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230014</a:t>
            </a:r>
            <a:endParaRPr sz="1234">
              <a:solidFill>
                <a:srgbClr val="B8D4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849"/>
              <a:buFont typeface="Calibri"/>
              <a:buNone/>
            </a:pPr>
            <a:r>
              <a:t/>
            </a:r>
            <a:endParaRPr sz="1234">
              <a:solidFill>
                <a:srgbClr val="B8D4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11480" y="37033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89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7BA898"/>
                </a:solidFill>
                <a:latin typeface="Calibri"/>
                <a:ea typeface="Calibri"/>
                <a:cs typeface="Calibri"/>
                <a:sym typeface="Calibri"/>
              </a:rPr>
              <a:t>Targeting Macro F1 &gt; 0.95  ·  Tesla T4 GPU  ·  AMP-Accelerated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74320" y="477316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IIT Kanpur  ·  Group 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060650" y="2510550"/>
            <a:ext cx="1516500" cy="740700"/>
          </a:xfrm>
          <a:prstGeom prst="rect">
            <a:avLst/>
          </a:prstGeom>
          <a:solidFill>
            <a:srgbClr val="22523A"/>
          </a:solidFill>
          <a:ln cap="flat" cmpd="sng" w="9800">
            <a:solidFill>
              <a:srgbClr val="3DA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500" lIns="70500" spcFirstLastPara="1" rIns="70500" wrap="square" tIns="7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2060650" y="2545817"/>
            <a:ext cx="1516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250" lIns="70500" spcFirstLastPara="1" rIns="70500" wrap="square" tIns="35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97"/>
              <a:buFont typeface="Georgia"/>
              <a:buNone/>
            </a:pPr>
            <a:r>
              <a:rPr b="1" lang="en-US" sz="1543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Aarush singh</a:t>
            </a:r>
            <a:endParaRPr b="0" i="0" sz="15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2060648" y="3033750"/>
            <a:ext cx="15165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250" lIns="70500" spcFirstLastPara="1" rIns="70500" wrap="square" tIns="35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849"/>
              <a:buFont typeface="Calibri"/>
              <a:buNone/>
            </a:pPr>
            <a:r>
              <a:rPr lang="en-US" sz="1234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230018</a:t>
            </a:r>
            <a:endParaRPr sz="1234">
              <a:solidFill>
                <a:srgbClr val="B8D4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849"/>
              <a:buFont typeface="Calibri"/>
              <a:buNone/>
            </a:pPr>
            <a:r>
              <a:t/>
            </a:r>
            <a:endParaRPr sz="1234">
              <a:solidFill>
                <a:srgbClr val="B8D4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3771900" y="2514600"/>
            <a:ext cx="1516500" cy="740700"/>
          </a:xfrm>
          <a:prstGeom prst="rect">
            <a:avLst/>
          </a:prstGeom>
          <a:solidFill>
            <a:srgbClr val="22523A"/>
          </a:solidFill>
          <a:ln cap="flat" cmpd="sng" w="9800">
            <a:solidFill>
              <a:srgbClr val="3DA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500" lIns="70500" spcFirstLastPara="1" rIns="70500" wrap="square" tIns="7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3771900" y="2549867"/>
            <a:ext cx="1516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250" lIns="70500" spcFirstLastPara="1" rIns="70500" wrap="square" tIns="35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97"/>
              <a:buFont typeface="Georgia"/>
              <a:buNone/>
            </a:pPr>
            <a:r>
              <a:rPr b="1" lang="en-US" sz="1543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Kaushey</a:t>
            </a:r>
            <a:endParaRPr b="0" i="0" sz="15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3771950" y="2881175"/>
            <a:ext cx="1516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250" lIns="70500" spcFirstLastPara="1" rIns="70500" wrap="square" tIns="35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849"/>
              <a:buFont typeface="Calibri"/>
              <a:buNone/>
            </a:pPr>
            <a:r>
              <a:rPr lang="en-US" sz="1234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230547</a:t>
            </a:r>
            <a:endParaRPr sz="1234">
              <a:solidFill>
                <a:srgbClr val="B8D4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5483250" y="2510550"/>
            <a:ext cx="1516500" cy="740700"/>
          </a:xfrm>
          <a:prstGeom prst="rect">
            <a:avLst/>
          </a:prstGeom>
          <a:solidFill>
            <a:srgbClr val="22523A"/>
          </a:solidFill>
          <a:ln cap="flat" cmpd="sng" w="9800">
            <a:solidFill>
              <a:srgbClr val="3DA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500" lIns="70500" spcFirstLastPara="1" rIns="70500" wrap="square" tIns="7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5483250" y="2545817"/>
            <a:ext cx="1516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250" lIns="70500" spcFirstLastPara="1" rIns="70500" wrap="square" tIns="35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97"/>
              <a:buFont typeface="Georgia"/>
              <a:buNone/>
            </a:pPr>
            <a:r>
              <a:rPr b="1" lang="en-US" sz="1443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Prince Pathak</a:t>
            </a:r>
            <a:endParaRPr b="0" i="0" sz="14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5483323" y="2918425"/>
            <a:ext cx="15165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250" lIns="70500" spcFirstLastPara="1" rIns="70500" wrap="square" tIns="35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849"/>
              <a:buFont typeface="Calibri"/>
              <a:buNone/>
            </a:pPr>
            <a:r>
              <a:rPr lang="en-US" sz="1234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230743</a:t>
            </a:r>
            <a:endParaRPr sz="1234">
              <a:solidFill>
                <a:srgbClr val="B8D4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7194650" y="2514600"/>
            <a:ext cx="1516500" cy="740700"/>
          </a:xfrm>
          <a:prstGeom prst="rect">
            <a:avLst/>
          </a:prstGeom>
          <a:solidFill>
            <a:srgbClr val="22523A"/>
          </a:solidFill>
          <a:ln cap="flat" cmpd="sng" w="9800">
            <a:solidFill>
              <a:srgbClr val="3DA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500" lIns="70500" spcFirstLastPara="1" rIns="70500" wrap="square" tIns="7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7194600" y="2543938"/>
            <a:ext cx="17022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250" lIns="70500" spcFirstLastPara="1" rIns="70500" wrap="square" tIns="3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97"/>
              <a:buFont typeface="Georgia"/>
              <a:buNone/>
            </a:pPr>
            <a:r>
              <a:rPr b="1" lang="en-US" sz="1443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Sushant kumar</a:t>
            </a:r>
            <a:endParaRPr b="0" i="0" sz="14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7194698" y="3008375"/>
            <a:ext cx="15165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250" lIns="70500" spcFirstLastPara="1" rIns="70500" wrap="square" tIns="35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849"/>
              <a:buFont typeface="Calibri"/>
              <a:buNone/>
            </a:pPr>
            <a:r>
              <a:rPr lang="en-US" sz="1234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231062</a:t>
            </a:r>
            <a:endParaRPr sz="1234">
              <a:solidFill>
                <a:srgbClr val="B8D4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849"/>
              <a:buFont typeface="Calibri"/>
              <a:buNone/>
            </a:pPr>
            <a:r>
              <a:t/>
            </a:r>
            <a:endParaRPr sz="1234">
              <a:solidFill>
                <a:srgbClr val="B8D4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0F2D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0" y="952500"/>
            <a:ext cx="9144000" cy="57300"/>
          </a:xfrm>
          <a:prstGeom prst="rect">
            <a:avLst/>
          </a:prstGeom>
          <a:solidFill>
            <a:srgbClr val="E885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381000" y="19050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Exploratory Data Analysis (EDA)</a:t>
            </a:r>
            <a:endParaRPr b="1" sz="3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48" name="Google Shape;48;p2"/>
          <p:cNvGrpSpPr/>
          <p:nvPr/>
        </p:nvGrpSpPr>
        <p:grpSpPr>
          <a:xfrm>
            <a:off x="285750" y="1238250"/>
            <a:ext cx="4191000" cy="1381275"/>
            <a:chOff x="285750" y="1238250"/>
            <a:chExt cx="4191000" cy="1381275"/>
          </a:xfrm>
        </p:grpSpPr>
        <p:sp>
          <p:nvSpPr>
            <p:cNvPr id="49" name="Google Shape;49;p2"/>
            <p:cNvSpPr/>
            <p:nvPr/>
          </p:nvSpPr>
          <p:spPr>
            <a:xfrm>
              <a:off x="285750" y="1238250"/>
              <a:ext cx="4191000" cy="1107000"/>
            </a:xfrm>
            <a:prstGeom prst="roundRect">
              <a:avLst>
                <a:gd fmla="val 6250" name="adj"/>
              </a:avLst>
            </a:prstGeom>
            <a:solidFill>
              <a:srgbClr val="22523A"/>
            </a:solidFill>
            <a:ln cap="flat" cmpd="sng" w="9525">
              <a:solidFill>
                <a:srgbClr val="3DAA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 txBox="1"/>
            <p:nvPr/>
          </p:nvSpPr>
          <p:spPr>
            <a:xfrm>
              <a:off x="476250" y="1381125"/>
              <a:ext cx="3810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A623"/>
                  </a:solidFill>
                  <a:latin typeface="Georgia"/>
                  <a:ea typeface="Georgia"/>
                  <a:cs typeface="Georgia"/>
                  <a:sym typeface="Georgia"/>
                </a:rPr>
                <a:t>10-Class Classification</a:t>
              </a:r>
              <a:endParaRPr b="1" sz="1600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B8D4C4"/>
                  </a:solidFill>
                  <a:latin typeface="Calibri"/>
                  <a:ea typeface="Calibri"/>
                  <a:cs typeface="Calibri"/>
                  <a:sym typeface="Calibri"/>
                </a:rPr>
                <a:t>Airplane, automobile, bird, cat, deer, dog, frog, horse, ship, truck — 32×32 RGB images in a CIFAR-style setup. Objective: maximize Macro F1.</a:t>
              </a:r>
              <a:endParaRPr sz="1150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51;p2"/>
          <p:cNvGrpSpPr/>
          <p:nvPr/>
        </p:nvGrpSpPr>
        <p:grpSpPr>
          <a:xfrm>
            <a:off x="285750" y="3812825"/>
            <a:ext cx="4191000" cy="1165250"/>
            <a:chOff x="4667250" y="1238250"/>
            <a:chExt cx="4191000" cy="1524000"/>
          </a:xfrm>
        </p:grpSpPr>
        <p:sp>
          <p:nvSpPr>
            <p:cNvPr id="52" name="Google Shape;52;p2"/>
            <p:cNvSpPr/>
            <p:nvPr/>
          </p:nvSpPr>
          <p:spPr>
            <a:xfrm>
              <a:off x="4667250" y="1238250"/>
              <a:ext cx="4191000" cy="1524000"/>
            </a:xfrm>
            <a:prstGeom prst="roundRect">
              <a:avLst>
                <a:gd fmla="val 6250" name="adj"/>
              </a:avLst>
            </a:prstGeom>
            <a:solidFill>
              <a:srgbClr val="22523A"/>
            </a:solidFill>
            <a:ln cap="flat" cmpd="sng" w="9525">
              <a:solidFill>
                <a:srgbClr val="E8850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 txBox="1"/>
            <p:nvPr/>
          </p:nvSpPr>
          <p:spPr>
            <a:xfrm>
              <a:off x="4857750" y="1381125"/>
              <a:ext cx="3810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A623"/>
                  </a:solidFill>
                  <a:latin typeface="Georgia"/>
                  <a:ea typeface="Georgia"/>
                  <a:cs typeface="Georgia"/>
                  <a:sym typeface="Georgia"/>
                </a:rPr>
                <a:t>Severe Class Imbalance</a:t>
              </a:r>
              <a:endParaRPr b="1" sz="1600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B8D4C4"/>
                  </a:solidFill>
                  <a:latin typeface="Calibri"/>
                  <a:ea typeface="Calibri"/>
                  <a:cs typeface="Calibri"/>
                  <a:sym typeface="Calibri"/>
                </a:rPr>
                <a:t>Majority classes have 5,000 samples; minority classes only 100. A brutal 50:1 ratio that standard cross-entropy completely fails to handle.</a:t>
              </a:r>
              <a:endParaRPr sz="1150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" name="Google Shape;54;p2"/>
          <p:cNvGrpSpPr/>
          <p:nvPr/>
        </p:nvGrpSpPr>
        <p:grpSpPr>
          <a:xfrm>
            <a:off x="285750" y="2481080"/>
            <a:ext cx="4191000" cy="1165250"/>
            <a:chOff x="285750" y="2952750"/>
            <a:chExt cx="4191000" cy="1524000"/>
          </a:xfrm>
        </p:grpSpPr>
        <p:sp>
          <p:nvSpPr>
            <p:cNvPr id="55" name="Google Shape;55;p2"/>
            <p:cNvSpPr/>
            <p:nvPr/>
          </p:nvSpPr>
          <p:spPr>
            <a:xfrm>
              <a:off x="285750" y="2952750"/>
              <a:ext cx="4191000" cy="1524000"/>
            </a:xfrm>
            <a:prstGeom prst="roundRect">
              <a:avLst>
                <a:gd fmla="val 6250" name="adj"/>
              </a:avLst>
            </a:prstGeom>
            <a:solidFill>
              <a:srgbClr val="22523A"/>
            </a:solidFill>
            <a:ln cap="flat" cmpd="sng" w="9525">
              <a:solidFill>
                <a:srgbClr val="D94F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 txBox="1"/>
            <p:nvPr/>
          </p:nvSpPr>
          <p:spPr>
            <a:xfrm>
              <a:off x="476250" y="3095625"/>
              <a:ext cx="3810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A623"/>
                  </a:solidFill>
                  <a:latin typeface="Georgia"/>
                  <a:ea typeface="Georgia"/>
                  <a:cs typeface="Georgia"/>
                  <a:sym typeface="Georgia"/>
                </a:rPr>
                <a:t>Distribution Shift</a:t>
              </a:r>
              <a:endParaRPr b="1" sz="1600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B8D4C4"/>
                  </a:solidFill>
                  <a:latin typeface="Calibri"/>
                  <a:ea typeface="Calibri"/>
                  <a:cs typeface="Calibri"/>
                  <a:sym typeface="Calibri"/>
                </a:rPr>
                <a:t>Test images differ systematically from training images through augmentations, corruptions, and environmental changes — models must generalize.</a:t>
              </a:r>
              <a:endParaRPr sz="1150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7" name="Google Shape;5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6175" y="1143450"/>
            <a:ext cx="2726300" cy="203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6175" y="3370900"/>
            <a:ext cx="2726301" cy="165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C2B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0F2D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0" y="952500"/>
            <a:ext cx="9144000" cy="57300"/>
          </a:xfrm>
          <a:prstGeom prst="rect">
            <a:avLst/>
          </a:prstGeom>
          <a:solidFill>
            <a:srgbClr val="E885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 txBox="1"/>
          <p:nvPr/>
        </p:nvSpPr>
        <p:spPr>
          <a:xfrm>
            <a:off x="381000" y="1905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Dataset &amp; Class Distribution</a:t>
            </a:r>
            <a:endParaRPr b="1" sz="3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67" name="Google Shape;67;p3"/>
          <p:cNvGrpSpPr/>
          <p:nvPr/>
        </p:nvGrpSpPr>
        <p:grpSpPr>
          <a:xfrm>
            <a:off x="285750" y="1238250"/>
            <a:ext cx="2095500" cy="3619500"/>
            <a:chOff x="285750" y="1238250"/>
            <a:chExt cx="2095500" cy="3619500"/>
          </a:xfrm>
        </p:grpSpPr>
        <p:sp>
          <p:nvSpPr>
            <p:cNvPr id="68" name="Google Shape;68;p3"/>
            <p:cNvSpPr/>
            <p:nvPr/>
          </p:nvSpPr>
          <p:spPr>
            <a:xfrm>
              <a:off x="285750" y="1238250"/>
              <a:ext cx="2095500" cy="3619500"/>
            </a:xfrm>
            <a:prstGeom prst="roundRect">
              <a:avLst>
                <a:gd fmla="val 4545" name="adj"/>
              </a:avLst>
            </a:prstGeom>
            <a:solidFill>
              <a:srgbClr val="22523A"/>
            </a:solidFill>
            <a:ln cap="flat" cmpd="sng" w="9525">
              <a:solidFill>
                <a:srgbClr val="3DAA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 txBox="1"/>
            <p:nvPr/>
          </p:nvSpPr>
          <p:spPr>
            <a:xfrm>
              <a:off x="285750" y="1238250"/>
              <a:ext cx="20955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5A623"/>
                  </a:solidFill>
                  <a:latin typeface="Georgia"/>
                  <a:ea typeface="Georgia"/>
                  <a:cs typeface="Georgia"/>
                  <a:sym typeface="Georgia"/>
                </a:rPr>
                <a:t>29,400</a:t>
              </a:r>
              <a:endParaRPr b="1" sz="2400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B8D4C4"/>
                  </a:solidFill>
                  <a:latin typeface="Calibri"/>
                  <a:ea typeface="Calibri"/>
                  <a:cs typeface="Calibri"/>
                  <a:sym typeface="Calibri"/>
                </a:rPr>
                <a:t>Total Training Images</a:t>
              </a:r>
              <a:endParaRPr sz="1100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5A623"/>
                  </a:solidFill>
                  <a:latin typeface="Georgia"/>
                  <a:ea typeface="Georgia"/>
                  <a:cs typeface="Georgia"/>
                  <a:sym typeface="Georgia"/>
                </a:rPr>
                <a:t>10</a:t>
              </a:r>
              <a:endParaRPr b="1" sz="2400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B8D4C4"/>
                  </a:solidFill>
                  <a:latin typeface="Calibri"/>
                  <a:ea typeface="Calibri"/>
                  <a:cs typeface="Calibri"/>
                  <a:sym typeface="Calibri"/>
                </a:rPr>
                <a:t>Classes (CIFAR-style)</a:t>
              </a:r>
              <a:endParaRPr sz="1100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5A623"/>
                  </a:solidFill>
                  <a:latin typeface="Georgia"/>
                  <a:ea typeface="Georgia"/>
                  <a:cs typeface="Georgia"/>
                  <a:sym typeface="Georgia"/>
                </a:rPr>
                <a:t>95/5</a:t>
              </a:r>
              <a:endParaRPr b="1" sz="2400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B8D4C4"/>
                  </a:solidFill>
                  <a:latin typeface="Calibri"/>
                  <a:ea typeface="Calibri"/>
                  <a:cs typeface="Calibri"/>
                  <a:sym typeface="Calibri"/>
                </a:rPr>
                <a:t>Train / Val Split</a:t>
              </a:r>
              <a:endParaRPr sz="1100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5A623"/>
                  </a:solidFill>
                  <a:latin typeface="Georgia"/>
                  <a:ea typeface="Georgia"/>
                  <a:cs typeface="Georgia"/>
                  <a:sym typeface="Georgia"/>
                </a:rPr>
                <a:t>50:1</a:t>
              </a:r>
              <a:endParaRPr b="1" sz="2400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B8D4C4"/>
                  </a:solidFill>
                  <a:latin typeface="Calibri"/>
                  <a:ea typeface="Calibri"/>
                  <a:cs typeface="Calibri"/>
                  <a:sym typeface="Calibri"/>
                </a:rPr>
                <a:t>Imbalance Ratio</a:t>
              </a:r>
              <a:endParaRPr sz="1100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" name="Google Shape;70;p3"/>
          <p:cNvGrpSpPr/>
          <p:nvPr/>
        </p:nvGrpSpPr>
        <p:grpSpPr>
          <a:xfrm>
            <a:off x="2667000" y="1238250"/>
            <a:ext cx="6191400" cy="3143400"/>
            <a:chOff x="2667000" y="1238250"/>
            <a:chExt cx="6191400" cy="3143400"/>
          </a:xfrm>
        </p:grpSpPr>
        <p:sp>
          <p:nvSpPr>
            <p:cNvPr id="71" name="Google Shape;71;p3"/>
            <p:cNvSpPr/>
            <p:nvPr/>
          </p:nvSpPr>
          <p:spPr>
            <a:xfrm>
              <a:off x="2667000" y="1238250"/>
              <a:ext cx="6191400" cy="3143400"/>
            </a:xfrm>
            <a:prstGeom prst="roundRect">
              <a:avLst>
                <a:gd fmla="val 3030" name="adj"/>
              </a:avLst>
            </a:prstGeom>
            <a:solidFill>
              <a:srgbClr val="22523A">
                <a:alpha val="30000"/>
              </a:srgbClr>
            </a:solidFill>
            <a:ln cap="flat" cmpd="sng" w="4775">
              <a:solidFill>
                <a:srgbClr val="3DAA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3"/>
            <p:cNvSpPr txBox="1"/>
            <p:nvPr/>
          </p:nvSpPr>
          <p:spPr>
            <a:xfrm>
              <a:off x="2857500" y="1381125"/>
              <a:ext cx="5810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A623"/>
                  </a:solidFill>
                  <a:latin typeface="Calibri"/>
                  <a:ea typeface="Calibri"/>
                  <a:cs typeface="Calibri"/>
                  <a:sym typeface="Calibri"/>
                </a:rPr>
                <a:t>Class Distribution (Training Samples)</a:t>
              </a:r>
              <a:endParaRPr b="1" sz="14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" name="Google Shape;73;p3"/>
            <p:cNvGrpSpPr/>
            <p:nvPr/>
          </p:nvGrpSpPr>
          <p:grpSpPr>
            <a:xfrm>
              <a:off x="2857500" y="1762125"/>
              <a:ext cx="5858025" cy="2333625"/>
              <a:chOff x="-1047750" y="0"/>
              <a:chExt cx="5858025" cy="2333625"/>
            </a:xfrm>
          </p:grpSpPr>
          <p:grpSp>
            <p:nvGrpSpPr>
              <p:cNvPr id="74" name="Google Shape;74;p3"/>
              <p:cNvGrpSpPr/>
              <p:nvPr/>
            </p:nvGrpSpPr>
            <p:grpSpPr>
              <a:xfrm>
                <a:off x="-1047750" y="0"/>
                <a:ext cx="5858025" cy="190500"/>
                <a:chOff x="-1047750" y="0"/>
                <a:chExt cx="5858025" cy="190500"/>
              </a:xfrm>
            </p:grpSpPr>
            <p:sp>
              <p:nvSpPr>
                <p:cNvPr id="75" name="Google Shape;75;p3"/>
                <p:cNvSpPr txBox="1"/>
                <p:nvPr/>
              </p:nvSpPr>
              <p:spPr>
                <a:xfrm>
                  <a:off x="-1047750" y="0"/>
                  <a:ext cx="9525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rgbClr val="B8D4C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airplane</a:t>
                  </a:r>
                  <a:endParaRPr sz="1000">
                    <a:solidFill>
                      <a:srgbClr val="B8D4C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" name="Google Shape;76;p3"/>
                <p:cNvSpPr/>
                <p:nvPr/>
              </p:nvSpPr>
              <p:spPr>
                <a:xfrm>
                  <a:off x="0" y="19050"/>
                  <a:ext cx="4286400" cy="152400"/>
                </a:xfrm>
                <a:prstGeom prst="rect">
                  <a:avLst/>
                </a:prstGeom>
                <a:solidFill>
                  <a:srgbClr val="3DAA6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" name="Google Shape;77;p3"/>
                <p:cNvSpPr txBox="1"/>
                <p:nvPr/>
              </p:nvSpPr>
              <p:spPr>
                <a:xfrm>
                  <a:off x="4333875" y="0"/>
                  <a:ext cx="4764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B8D4C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4,750</a:t>
                  </a:r>
                  <a:endParaRPr sz="900">
                    <a:solidFill>
                      <a:srgbClr val="B8D4C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8" name="Google Shape;78;p3"/>
              <p:cNvGrpSpPr/>
              <p:nvPr/>
            </p:nvGrpSpPr>
            <p:grpSpPr>
              <a:xfrm>
                <a:off x="-1047750" y="238125"/>
                <a:ext cx="5858025" cy="190500"/>
                <a:chOff x="-1047750" y="0"/>
                <a:chExt cx="5858025" cy="190500"/>
              </a:xfrm>
            </p:grpSpPr>
            <p:sp>
              <p:nvSpPr>
                <p:cNvPr id="79" name="Google Shape;79;p3"/>
                <p:cNvSpPr txBox="1"/>
                <p:nvPr/>
              </p:nvSpPr>
              <p:spPr>
                <a:xfrm>
                  <a:off x="-1047750" y="0"/>
                  <a:ext cx="9525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rgbClr val="B8D4C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automobile</a:t>
                  </a:r>
                  <a:endParaRPr sz="1000">
                    <a:solidFill>
                      <a:srgbClr val="B8D4C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" name="Google Shape;80;p3"/>
                <p:cNvSpPr/>
                <p:nvPr/>
              </p:nvSpPr>
              <p:spPr>
                <a:xfrm>
                  <a:off x="0" y="19050"/>
                  <a:ext cx="4286400" cy="152400"/>
                </a:xfrm>
                <a:prstGeom prst="rect">
                  <a:avLst/>
                </a:prstGeom>
                <a:solidFill>
                  <a:srgbClr val="3DAA6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" name="Google Shape;81;p3"/>
                <p:cNvSpPr txBox="1"/>
                <p:nvPr/>
              </p:nvSpPr>
              <p:spPr>
                <a:xfrm>
                  <a:off x="4333875" y="0"/>
                  <a:ext cx="4764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B8D4C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4,750</a:t>
                  </a:r>
                  <a:endParaRPr sz="900">
                    <a:solidFill>
                      <a:srgbClr val="B8D4C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" name="Google Shape;82;p3"/>
              <p:cNvGrpSpPr/>
              <p:nvPr/>
            </p:nvGrpSpPr>
            <p:grpSpPr>
              <a:xfrm>
                <a:off x="-1047750" y="476250"/>
                <a:ext cx="5858025" cy="190500"/>
                <a:chOff x="-1047750" y="0"/>
                <a:chExt cx="5858025" cy="190500"/>
              </a:xfrm>
            </p:grpSpPr>
            <p:sp>
              <p:nvSpPr>
                <p:cNvPr id="83" name="Google Shape;83;p3"/>
                <p:cNvSpPr txBox="1"/>
                <p:nvPr/>
              </p:nvSpPr>
              <p:spPr>
                <a:xfrm>
                  <a:off x="-1047750" y="0"/>
                  <a:ext cx="9525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rgbClr val="B8D4C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bird</a:t>
                  </a:r>
                  <a:endParaRPr sz="1000">
                    <a:solidFill>
                      <a:srgbClr val="B8D4C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" name="Google Shape;84;p3"/>
                <p:cNvSpPr/>
                <p:nvPr/>
              </p:nvSpPr>
              <p:spPr>
                <a:xfrm>
                  <a:off x="0" y="19050"/>
                  <a:ext cx="4286400" cy="152400"/>
                </a:xfrm>
                <a:prstGeom prst="rect">
                  <a:avLst/>
                </a:prstGeom>
                <a:solidFill>
                  <a:srgbClr val="3DAA6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" name="Google Shape;85;p3"/>
                <p:cNvSpPr txBox="1"/>
                <p:nvPr/>
              </p:nvSpPr>
              <p:spPr>
                <a:xfrm>
                  <a:off x="4333875" y="0"/>
                  <a:ext cx="4764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B8D4C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4,750</a:t>
                  </a:r>
                  <a:endParaRPr sz="900">
                    <a:solidFill>
                      <a:srgbClr val="B8D4C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6" name="Google Shape;86;p3"/>
              <p:cNvGrpSpPr/>
              <p:nvPr/>
            </p:nvGrpSpPr>
            <p:grpSpPr>
              <a:xfrm>
                <a:off x="-1047750" y="714375"/>
                <a:ext cx="5858025" cy="190500"/>
                <a:chOff x="-1047750" y="0"/>
                <a:chExt cx="5858025" cy="190500"/>
              </a:xfrm>
            </p:grpSpPr>
            <p:sp>
              <p:nvSpPr>
                <p:cNvPr id="87" name="Google Shape;87;p3"/>
                <p:cNvSpPr txBox="1"/>
                <p:nvPr/>
              </p:nvSpPr>
              <p:spPr>
                <a:xfrm>
                  <a:off x="-1047750" y="0"/>
                  <a:ext cx="9525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rgbClr val="B8D4C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cat</a:t>
                  </a:r>
                  <a:endParaRPr sz="1000">
                    <a:solidFill>
                      <a:srgbClr val="B8D4C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" name="Google Shape;88;p3"/>
                <p:cNvSpPr/>
                <p:nvPr/>
              </p:nvSpPr>
              <p:spPr>
                <a:xfrm>
                  <a:off x="0" y="19050"/>
                  <a:ext cx="4286400" cy="152400"/>
                </a:xfrm>
                <a:prstGeom prst="rect">
                  <a:avLst/>
                </a:prstGeom>
                <a:solidFill>
                  <a:srgbClr val="3DAA6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" name="Google Shape;89;p3"/>
                <p:cNvSpPr txBox="1"/>
                <p:nvPr/>
              </p:nvSpPr>
              <p:spPr>
                <a:xfrm>
                  <a:off x="4333875" y="0"/>
                  <a:ext cx="4764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B8D4C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4,750</a:t>
                  </a:r>
                  <a:endParaRPr sz="900">
                    <a:solidFill>
                      <a:srgbClr val="B8D4C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0" name="Google Shape;90;p3"/>
              <p:cNvGrpSpPr/>
              <p:nvPr/>
            </p:nvGrpSpPr>
            <p:grpSpPr>
              <a:xfrm>
                <a:off x="-1047750" y="952500"/>
                <a:ext cx="5000775" cy="190500"/>
                <a:chOff x="-1047750" y="0"/>
                <a:chExt cx="5000775" cy="190500"/>
              </a:xfrm>
            </p:grpSpPr>
            <p:sp>
              <p:nvSpPr>
                <p:cNvPr id="91" name="Google Shape;91;p3"/>
                <p:cNvSpPr txBox="1"/>
                <p:nvPr/>
              </p:nvSpPr>
              <p:spPr>
                <a:xfrm>
                  <a:off x="-1047750" y="0"/>
                  <a:ext cx="9525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rgbClr val="B8D4C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deer</a:t>
                  </a:r>
                  <a:endParaRPr sz="1000">
                    <a:solidFill>
                      <a:srgbClr val="B8D4C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" name="Google Shape;92;p3"/>
                <p:cNvSpPr/>
                <p:nvPr/>
              </p:nvSpPr>
              <p:spPr>
                <a:xfrm>
                  <a:off x="0" y="19050"/>
                  <a:ext cx="3429000" cy="152400"/>
                </a:xfrm>
                <a:prstGeom prst="rect">
                  <a:avLst/>
                </a:prstGeom>
                <a:solidFill>
                  <a:srgbClr val="2E7D52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" name="Google Shape;93;p3"/>
                <p:cNvSpPr txBox="1"/>
                <p:nvPr/>
              </p:nvSpPr>
              <p:spPr>
                <a:xfrm>
                  <a:off x="3476625" y="0"/>
                  <a:ext cx="4764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B8D4C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3,800</a:t>
                  </a:r>
                  <a:endParaRPr sz="900">
                    <a:solidFill>
                      <a:srgbClr val="B8D4C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4" name="Google Shape;94;p3"/>
              <p:cNvGrpSpPr/>
              <p:nvPr/>
            </p:nvGrpSpPr>
            <p:grpSpPr>
              <a:xfrm>
                <a:off x="-1047750" y="1190625"/>
                <a:ext cx="5000775" cy="190500"/>
                <a:chOff x="-1047750" y="0"/>
                <a:chExt cx="5000775" cy="190500"/>
              </a:xfrm>
            </p:grpSpPr>
            <p:sp>
              <p:nvSpPr>
                <p:cNvPr id="95" name="Google Shape;95;p3"/>
                <p:cNvSpPr txBox="1"/>
                <p:nvPr/>
              </p:nvSpPr>
              <p:spPr>
                <a:xfrm>
                  <a:off x="-1047750" y="0"/>
                  <a:ext cx="9525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rgbClr val="B8D4C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dog</a:t>
                  </a:r>
                  <a:endParaRPr sz="1000">
                    <a:solidFill>
                      <a:srgbClr val="B8D4C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" name="Google Shape;96;p3"/>
                <p:cNvSpPr/>
                <p:nvPr/>
              </p:nvSpPr>
              <p:spPr>
                <a:xfrm>
                  <a:off x="0" y="19050"/>
                  <a:ext cx="3429000" cy="152400"/>
                </a:xfrm>
                <a:prstGeom prst="rect">
                  <a:avLst/>
                </a:prstGeom>
                <a:solidFill>
                  <a:srgbClr val="2E7D52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" name="Google Shape;97;p3"/>
                <p:cNvSpPr txBox="1"/>
                <p:nvPr/>
              </p:nvSpPr>
              <p:spPr>
                <a:xfrm>
                  <a:off x="3476625" y="0"/>
                  <a:ext cx="4764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B8D4C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3,800</a:t>
                  </a:r>
                  <a:endParaRPr sz="900">
                    <a:solidFill>
                      <a:srgbClr val="B8D4C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8" name="Google Shape;98;p3"/>
              <p:cNvGrpSpPr/>
              <p:nvPr/>
            </p:nvGrpSpPr>
            <p:grpSpPr>
              <a:xfrm>
                <a:off x="-1047750" y="1428750"/>
                <a:ext cx="2000400" cy="190500"/>
                <a:chOff x="-1047750" y="0"/>
                <a:chExt cx="2000400" cy="190500"/>
              </a:xfrm>
            </p:grpSpPr>
            <p:sp>
              <p:nvSpPr>
                <p:cNvPr id="99" name="Google Shape;99;p3"/>
                <p:cNvSpPr txBox="1"/>
                <p:nvPr/>
              </p:nvSpPr>
              <p:spPr>
                <a:xfrm>
                  <a:off x="-1047750" y="0"/>
                  <a:ext cx="9525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rgbClr val="B8D4C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frog</a:t>
                  </a:r>
                  <a:endParaRPr sz="1000">
                    <a:solidFill>
                      <a:srgbClr val="B8D4C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" name="Google Shape;100;p3"/>
                <p:cNvSpPr/>
                <p:nvPr/>
              </p:nvSpPr>
              <p:spPr>
                <a:xfrm>
                  <a:off x="0" y="19050"/>
                  <a:ext cx="428700" cy="152400"/>
                </a:xfrm>
                <a:prstGeom prst="rect">
                  <a:avLst/>
                </a:prstGeom>
                <a:solidFill>
                  <a:srgbClr val="E8850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" name="Google Shape;101;p3"/>
                <p:cNvSpPr txBox="1"/>
                <p:nvPr/>
              </p:nvSpPr>
              <p:spPr>
                <a:xfrm>
                  <a:off x="476250" y="0"/>
                  <a:ext cx="4764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B8D4C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475</a:t>
                  </a:r>
                  <a:endParaRPr sz="900">
                    <a:solidFill>
                      <a:srgbClr val="B8D4C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2" name="Google Shape;102;p3"/>
              <p:cNvGrpSpPr/>
              <p:nvPr/>
            </p:nvGrpSpPr>
            <p:grpSpPr>
              <a:xfrm>
                <a:off x="-1047750" y="1666875"/>
                <a:ext cx="2000400" cy="190500"/>
                <a:chOff x="-1047750" y="0"/>
                <a:chExt cx="2000400" cy="190500"/>
              </a:xfrm>
            </p:grpSpPr>
            <p:sp>
              <p:nvSpPr>
                <p:cNvPr id="103" name="Google Shape;103;p3"/>
                <p:cNvSpPr txBox="1"/>
                <p:nvPr/>
              </p:nvSpPr>
              <p:spPr>
                <a:xfrm>
                  <a:off x="-1047750" y="0"/>
                  <a:ext cx="9525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rgbClr val="B8D4C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horse</a:t>
                  </a:r>
                  <a:endParaRPr sz="1000">
                    <a:solidFill>
                      <a:srgbClr val="B8D4C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" name="Google Shape;104;p3"/>
                <p:cNvSpPr/>
                <p:nvPr/>
              </p:nvSpPr>
              <p:spPr>
                <a:xfrm>
                  <a:off x="0" y="19050"/>
                  <a:ext cx="428700" cy="152400"/>
                </a:xfrm>
                <a:prstGeom prst="rect">
                  <a:avLst/>
                </a:prstGeom>
                <a:solidFill>
                  <a:srgbClr val="E8850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" name="Google Shape;105;p3"/>
                <p:cNvSpPr txBox="1"/>
                <p:nvPr/>
              </p:nvSpPr>
              <p:spPr>
                <a:xfrm>
                  <a:off x="476250" y="0"/>
                  <a:ext cx="4764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B8D4C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475</a:t>
                  </a:r>
                  <a:endParaRPr sz="900">
                    <a:solidFill>
                      <a:srgbClr val="B8D4C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6" name="Google Shape;106;p3"/>
              <p:cNvGrpSpPr/>
              <p:nvPr/>
            </p:nvGrpSpPr>
            <p:grpSpPr>
              <a:xfrm>
                <a:off x="-1047750" y="1905000"/>
                <a:ext cx="1828950" cy="190500"/>
                <a:chOff x="-1047750" y="0"/>
                <a:chExt cx="1828950" cy="190500"/>
              </a:xfrm>
            </p:grpSpPr>
            <p:sp>
              <p:nvSpPr>
                <p:cNvPr id="107" name="Google Shape;107;p3"/>
                <p:cNvSpPr txBox="1"/>
                <p:nvPr/>
              </p:nvSpPr>
              <p:spPr>
                <a:xfrm>
                  <a:off x="-1047750" y="0"/>
                  <a:ext cx="9525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rgbClr val="B8D4C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ship</a:t>
                  </a:r>
                  <a:endParaRPr sz="1000">
                    <a:solidFill>
                      <a:srgbClr val="B8D4C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" name="Google Shape;108;p3"/>
                <p:cNvSpPr/>
                <p:nvPr/>
              </p:nvSpPr>
              <p:spPr>
                <a:xfrm>
                  <a:off x="0" y="19050"/>
                  <a:ext cx="257100" cy="152400"/>
                </a:xfrm>
                <a:prstGeom prst="rect">
                  <a:avLst/>
                </a:prstGeom>
                <a:solidFill>
                  <a:srgbClr val="D94F3D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" name="Google Shape;109;p3"/>
                <p:cNvSpPr txBox="1"/>
                <p:nvPr/>
              </p:nvSpPr>
              <p:spPr>
                <a:xfrm>
                  <a:off x="304800" y="0"/>
                  <a:ext cx="4764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B8D4C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285</a:t>
                  </a:r>
                  <a:endParaRPr sz="900">
                    <a:solidFill>
                      <a:srgbClr val="B8D4C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0" name="Google Shape;110;p3"/>
              <p:cNvGrpSpPr/>
              <p:nvPr/>
            </p:nvGrpSpPr>
            <p:grpSpPr>
              <a:xfrm>
                <a:off x="-1047750" y="2143125"/>
                <a:ext cx="1657500" cy="190500"/>
                <a:chOff x="-1047750" y="0"/>
                <a:chExt cx="1657500" cy="190500"/>
              </a:xfrm>
            </p:grpSpPr>
            <p:sp>
              <p:nvSpPr>
                <p:cNvPr id="111" name="Google Shape;111;p3"/>
                <p:cNvSpPr txBox="1"/>
                <p:nvPr/>
              </p:nvSpPr>
              <p:spPr>
                <a:xfrm>
                  <a:off x="-1047750" y="0"/>
                  <a:ext cx="9525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rgbClr val="B8D4C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truck</a:t>
                  </a:r>
                  <a:endParaRPr sz="1000">
                    <a:solidFill>
                      <a:srgbClr val="B8D4C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" name="Google Shape;112;p3"/>
                <p:cNvSpPr/>
                <p:nvPr/>
              </p:nvSpPr>
              <p:spPr>
                <a:xfrm>
                  <a:off x="0" y="19050"/>
                  <a:ext cx="85800" cy="152400"/>
                </a:xfrm>
                <a:prstGeom prst="rect">
                  <a:avLst/>
                </a:prstGeom>
                <a:solidFill>
                  <a:srgbClr val="D94F3D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" name="Google Shape;113;p3"/>
                <p:cNvSpPr txBox="1"/>
                <p:nvPr/>
              </p:nvSpPr>
              <p:spPr>
                <a:xfrm>
                  <a:off x="133350" y="0"/>
                  <a:ext cx="4764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B8D4C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95</a:t>
                  </a:r>
                  <a:endParaRPr sz="900">
                    <a:solidFill>
                      <a:srgbClr val="B8D4C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14" name="Google Shape;114;p3"/>
          <p:cNvGrpSpPr/>
          <p:nvPr/>
        </p:nvGrpSpPr>
        <p:grpSpPr>
          <a:xfrm>
            <a:off x="2667000" y="4524375"/>
            <a:ext cx="6191400" cy="333300"/>
            <a:chOff x="2667000" y="4524375"/>
            <a:chExt cx="6191400" cy="333300"/>
          </a:xfrm>
        </p:grpSpPr>
        <p:sp>
          <p:nvSpPr>
            <p:cNvPr id="115" name="Google Shape;115;p3"/>
            <p:cNvSpPr/>
            <p:nvPr/>
          </p:nvSpPr>
          <p:spPr>
            <a:xfrm>
              <a:off x="2667000" y="4524375"/>
              <a:ext cx="6191400" cy="333300"/>
            </a:xfrm>
            <a:prstGeom prst="roundRect">
              <a:avLst>
                <a:gd fmla="val 14285" name="adj"/>
              </a:avLst>
            </a:prstGeom>
            <a:solidFill>
              <a:srgbClr val="FEF3C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 txBox="1"/>
            <p:nvPr/>
          </p:nvSpPr>
          <p:spPr>
            <a:xfrm>
              <a:off x="2667000" y="4524375"/>
              <a:ext cx="6191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050">
                  <a:solidFill>
                    <a:srgbClr val="F5A623"/>
                  </a:solidFill>
                  <a:latin typeface="Calibri"/>
                  <a:ea typeface="Calibri"/>
                  <a:cs typeface="Calibri"/>
                  <a:sym typeface="Calibri"/>
                </a:rPr>
                <a:t>Sqrt-inverse frequency weighted sampler: wᵢ = 1/√Nᵢ ensures balanced mini-batches</a:t>
              </a:r>
              <a:endParaRPr i="1" sz="105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5EC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1A3C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0" y="914400"/>
            <a:ext cx="9144000" cy="63900"/>
          </a:xfrm>
          <a:prstGeom prst="rect">
            <a:avLst/>
          </a:prstGeom>
          <a:solidFill>
            <a:srgbClr val="E8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Architecture: WideResNet-40-10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274320" y="1143000"/>
            <a:ext cx="3474600" cy="3703200"/>
          </a:xfrm>
          <a:prstGeom prst="roundRect">
            <a:avLst>
              <a:gd fmla="val 2741" name="adj"/>
            </a:avLst>
          </a:prstGeom>
          <a:solidFill>
            <a:srgbClr val="1A3C2B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274320" y="1143000"/>
            <a:ext cx="76200" cy="3703200"/>
          </a:xfrm>
          <a:prstGeom prst="roundRect">
            <a:avLst>
              <a:gd fmla="val 50000" name="adj"/>
            </a:avLst>
          </a:prstGeom>
          <a:solidFill>
            <a:srgbClr val="E885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457200" y="1234440"/>
            <a:ext cx="320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WRN-40-10 Specs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75488" y="1691640"/>
            <a:ext cx="1326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Depth: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810512" y="1691640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 layers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75488" y="2167128"/>
            <a:ext cx="1326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Width Factor: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1810512" y="2167128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×10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75488" y="2642616"/>
            <a:ext cx="1326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Parameters: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810512" y="2642616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~54M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75488" y="3118104"/>
            <a:ext cx="1326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Channels: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1810512" y="3118104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16→160→320→640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75488" y="3593592"/>
            <a:ext cx="1326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Dropout: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1810512" y="3593592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p=0.3 (per block)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75488" y="4069080"/>
            <a:ext cx="1326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Head: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1810512" y="4069080"/>
            <a:ext cx="182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GlobalAvgPool + Linear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023360" y="1170432"/>
            <a:ext cx="484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3C2B"/>
                </a:solidFill>
                <a:latin typeface="Georgia"/>
                <a:ea typeface="Georgia"/>
                <a:cs typeface="Georgia"/>
                <a:sym typeface="Georgia"/>
              </a:rPr>
              <a:t>Network Block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138" y="1905000"/>
            <a:ext cx="237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/>
          <p:nvPr/>
        </p:nvSpPr>
        <p:spPr>
          <a:xfrm>
            <a:off x="4023360" y="1600200"/>
            <a:ext cx="4846200" cy="347400"/>
          </a:xfrm>
          <a:prstGeom prst="rect">
            <a:avLst/>
          </a:prstGeom>
          <a:solidFill>
            <a:srgbClr val="3DAA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Input 32×32×3</a:t>
            </a:r>
            <a:endParaRPr b="1" sz="115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023360" y="2029968"/>
            <a:ext cx="4846200" cy="34740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Conv 3×3 → 16 channels</a:t>
            </a:r>
            <a:endParaRPr b="0" sz="115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023360" y="2459736"/>
            <a:ext cx="4846200" cy="347400"/>
          </a:xfrm>
          <a:prstGeom prst="rect">
            <a:avLst/>
          </a:prstGeom>
          <a:solidFill>
            <a:srgbClr val="22523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WideBlock ×N → 160 ch (stride 1)</a:t>
            </a:r>
            <a:endParaRPr b="0" sz="115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023360" y="2889504"/>
            <a:ext cx="4846200" cy="347400"/>
          </a:xfrm>
          <a:prstGeom prst="rect">
            <a:avLst/>
          </a:prstGeom>
          <a:solidFill>
            <a:srgbClr val="22523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WideBlock ×N → 320 ch (stride 2)</a:t>
            </a:r>
            <a:endParaRPr b="0" sz="115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023360" y="3319272"/>
            <a:ext cx="4846200" cy="347400"/>
          </a:xfrm>
          <a:prstGeom prst="rect">
            <a:avLst/>
          </a:prstGeom>
          <a:solidFill>
            <a:srgbClr val="22523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WideBlock ×N → 640 ch (stride 2)</a:t>
            </a:r>
            <a:endParaRPr b="0" sz="115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023360" y="3749040"/>
            <a:ext cx="4846200" cy="34740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BN → ReLU → GlobalAvgPool</a:t>
            </a:r>
            <a:endParaRPr b="0" sz="115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023360" y="4178808"/>
            <a:ext cx="4846200" cy="347400"/>
          </a:xfrm>
          <a:prstGeom prst="rect">
            <a:avLst/>
          </a:prstGeom>
          <a:solidFill>
            <a:srgbClr val="E885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Linear Classifier → 10 classes</a:t>
            </a:r>
            <a:endParaRPr b="1" sz="115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4023360" y="4590288"/>
            <a:ext cx="4846200" cy="411600"/>
          </a:xfrm>
          <a:prstGeom prst="rect">
            <a:avLst/>
          </a:prstGeom>
          <a:solidFill>
            <a:srgbClr val="FEF3C7">
              <a:alpha val="90000"/>
            </a:srgbClr>
          </a:solidFill>
          <a:ln cap="flat" cmpd="sng" w="12700">
            <a:solidFill>
              <a:srgbClr val="E8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4069080" y="4617720"/>
            <a:ext cx="4755000" cy="32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50">
                <a:solidFill>
                  <a:srgbClr val="713F12"/>
                </a:solidFill>
                <a:latin typeface="Georgia"/>
                <a:ea typeface="Georgia"/>
                <a:cs typeface="Georgia"/>
                <a:sym typeface="Georgia"/>
              </a:rPr>
              <a:t>WideBlock: BN → ReLU → Conv3×3 → Dropout(0.3) → Conv3×3 + skip (1×1 proj)</a:t>
            </a:r>
            <a:endParaRPr i="1" sz="950">
              <a:solidFill>
                <a:srgbClr val="713F1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1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225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0" y="914400"/>
            <a:ext cx="9144000" cy="63900"/>
          </a:xfrm>
          <a:prstGeom prst="rect">
            <a:avLst/>
          </a:prstGeom>
          <a:solidFill>
            <a:srgbClr val="E8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Tackling Class Imbalance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65760" y="102412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 3-Layer Defense Against the 50:1 Skew (Airpla</a:t>
            </a:r>
            <a:r>
              <a:rPr i="1" lang="en-US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ne/Truck</a:t>
            </a:r>
            <a:r>
              <a:rPr b="0" i="1" lang="en-US" sz="14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" name="Google Shape;160;p5"/>
          <p:cNvGrpSpPr/>
          <p:nvPr/>
        </p:nvGrpSpPr>
        <p:grpSpPr>
          <a:xfrm>
            <a:off x="285750" y="1428750"/>
            <a:ext cx="2762400" cy="3143400"/>
            <a:chOff x="285750" y="1428750"/>
            <a:chExt cx="2762400" cy="3143400"/>
          </a:xfrm>
        </p:grpSpPr>
        <p:sp>
          <p:nvSpPr>
            <p:cNvPr id="161" name="Google Shape;161;p5"/>
            <p:cNvSpPr/>
            <p:nvPr/>
          </p:nvSpPr>
          <p:spPr>
            <a:xfrm>
              <a:off x="285750" y="1428750"/>
              <a:ext cx="2762400" cy="3143400"/>
            </a:xfrm>
            <a:prstGeom prst="roundRect">
              <a:avLst>
                <a:gd fmla="val 3448" name="adj"/>
              </a:avLst>
            </a:prstGeom>
            <a:solidFill>
              <a:srgbClr val="22523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285750" y="1428750"/>
              <a:ext cx="2762400" cy="571500"/>
            </a:xfrm>
            <a:prstGeom prst="roundRect">
              <a:avLst>
                <a:gd fmla="val 16666" name="adj"/>
              </a:avLst>
            </a:prstGeom>
            <a:solidFill>
              <a:srgbClr val="3DAA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285750" y="1714500"/>
              <a:ext cx="2762400" cy="285900"/>
            </a:xfrm>
            <a:prstGeom prst="rect">
              <a:avLst/>
            </a:prstGeom>
            <a:solidFill>
              <a:srgbClr val="3DAA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5"/>
            <p:cNvSpPr txBox="1"/>
            <p:nvPr/>
          </p:nvSpPr>
          <p:spPr>
            <a:xfrm>
              <a:off x="285750" y="142875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01</a:t>
              </a:r>
              <a:endParaRPr b="1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65" name="Google Shape;165;p5"/>
            <p:cNvSpPr txBox="1"/>
            <p:nvPr/>
          </p:nvSpPr>
          <p:spPr>
            <a:xfrm>
              <a:off x="857250" y="1428750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Weighted Random Sampler </a:t>
              </a:r>
              <a:endParaRPr b="1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66" name="Google Shape;166;p5"/>
            <p:cNvSpPr txBox="1"/>
            <p:nvPr/>
          </p:nvSpPr>
          <p:spPr>
            <a:xfrm>
              <a:off x="428625" y="2143125"/>
              <a:ext cx="2476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5A623"/>
                  </a:solidFill>
                  <a:latin typeface="Calibri"/>
                  <a:ea typeface="Calibri"/>
                  <a:cs typeface="Calibri"/>
                  <a:sym typeface="Calibri"/>
                </a:rPr>
                <a:t>Data-level fix</a:t>
              </a:r>
              <a:endParaRPr b="1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B8D4C4"/>
                  </a:solidFill>
                  <a:latin typeface="Calibri"/>
                  <a:ea typeface="Calibri"/>
                  <a:cs typeface="Calibri"/>
                  <a:sym typeface="Calibri"/>
                </a:rPr>
                <a:t>Weight: wᵢ = 1/√Nᵢ</a:t>
              </a:r>
              <a:endParaRPr sz="1200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B8D4C4"/>
                  </a:solidFill>
                  <a:latin typeface="Calibri"/>
                  <a:ea typeface="Calibri"/>
                  <a:cs typeface="Calibri"/>
                  <a:sym typeface="Calibri"/>
                </a:rPr>
                <a:t>Sqrt-inverse frequency</a:t>
              </a:r>
              <a:endParaRPr sz="1200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B8D4C4"/>
                  </a:solidFill>
                  <a:latin typeface="Calibri"/>
                  <a:ea typeface="Calibri"/>
                  <a:cs typeface="Calibri"/>
                  <a:sym typeface="Calibri"/>
                </a:rPr>
                <a:t>Balanced mini-batches; replacement=True</a:t>
              </a:r>
              <a:endParaRPr sz="1200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lang="en-US" sz="1200">
                  <a:solidFill>
                    <a:srgbClr val="B8D4C4"/>
                  </a:solidFill>
                  <a:latin typeface="Calibri"/>
                  <a:ea typeface="Calibri"/>
                  <a:cs typeface="Calibri"/>
                  <a:sym typeface="Calibri"/>
                </a:rPr>
                <a:t>Avoids extreme overfit on rare classes</a:t>
              </a:r>
              <a:endParaRPr sz="1200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5"/>
          <p:cNvGrpSpPr/>
          <p:nvPr/>
        </p:nvGrpSpPr>
        <p:grpSpPr>
          <a:xfrm>
            <a:off x="3190875" y="1428750"/>
            <a:ext cx="2762400" cy="3143400"/>
            <a:chOff x="3190875" y="1428750"/>
            <a:chExt cx="2762400" cy="3143400"/>
          </a:xfrm>
        </p:grpSpPr>
        <p:sp>
          <p:nvSpPr>
            <p:cNvPr id="168" name="Google Shape;168;p5"/>
            <p:cNvSpPr/>
            <p:nvPr/>
          </p:nvSpPr>
          <p:spPr>
            <a:xfrm>
              <a:off x="3190875" y="1428750"/>
              <a:ext cx="2762400" cy="3143400"/>
            </a:xfrm>
            <a:prstGeom prst="roundRect">
              <a:avLst>
                <a:gd fmla="val 3448" name="adj"/>
              </a:avLst>
            </a:prstGeom>
            <a:solidFill>
              <a:srgbClr val="22523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3190875" y="1428750"/>
              <a:ext cx="2762400" cy="571500"/>
            </a:xfrm>
            <a:prstGeom prst="roundRect">
              <a:avLst>
                <a:gd fmla="val 16666" name="adj"/>
              </a:avLst>
            </a:prstGeom>
            <a:solidFill>
              <a:srgbClr val="E8850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3190875" y="1714500"/>
              <a:ext cx="2762400" cy="285900"/>
            </a:xfrm>
            <a:prstGeom prst="rect">
              <a:avLst/>
            </a:prstGeom>
            <a:solidFill>
              <a:srgbClr val="E8850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5"/>
            <p:cNvSpPr txBox="1"/>
            <p:nvPr/>
          </p:nvSpPr>
          <p:spPr>
            <a:xfrm>
              <a:off x="3190875" y="142875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02</a:t>
              </a:r>
              <a:endParaRPr b="1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72" name="Google Shape;172;p5"/>
            <p:cNvSpPr txBox="1"/>
            <p:nvPr/>
          </p:nvSpPr>
          <p:spPr>
            <a:xfrm>
              <a:off x="3762375" y="1428750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BalancedSoftmaxLoss</a:t>
              </a:r>
              <a:endParaRPr b="1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73" name="Google Shape;173;p5"/>
            <p:cNvSpPr txBox="1"/>
            <p:nvPr/>
          </p:nvSpPr>
          <p:spPr>
            <a:xfrm>
              <a:off x="3333750" y="2143125"/>
              <a:ext cx="2476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5A623"/>
                  </a:solidFill>
                  <a:latin typeface="Calibri"/>
                  <a:ea typeface="Calibri"/>
                  <a:cs typeface="Calibri"/>
                  <a:sym typeface="Calibri"/>
                </a:rPr>
                <a:t>Loss-level fix</a:t>
              </a:r>
              <a:endParaRPr b="1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B8D4C4"/>
                  </a:solidFill>
                  <a:latin typeface="Calibri"/>
                  <a:ea typeface="Calibri"/>
                  <a:cs typeface="Calibri"/>
                  <a:sym typeface="Calibri"/>
                </a:rPr>
                <a:t>Adds log(Nc / ΣNj) to logits pre-softmax</a:t>
              </a:r>
              <a:endParaRPr sz="1200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B8D4C4"/>
                  </a:solidFill>
                  <a:latin typeface="Calibri"/>
                  <a:ea typeface="Calibri"/>
                  <a:cs typeface="Calibri"/>
                  <a:sym typeface="Calibri"/>
                </a:rPr>
                <a:t>Shifts decision boundary toward minority classes</a:t>
              </a:r>
              <a:endParaRPr sz="1200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e.g. truck: −5.6 bias</a:t>
              </a:r>
              <a:endParaRPr i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5"/>
          <p:cNvGrpSpPr/>
          <p:nvPr/>
        </p:nvGrpSpPr>
        <p:grpSpPr>
          <a:xfrm>
            <a:off x="6096000" y="1428750"/>
            <a:ext cx="2762400" cy="3143400"/>
            <a:chOff x="6096000" y="1428750"/>
            <a:chExt cx="2762400" cy="3143400"/>
          </a:xfrm>
        </p:grpSpPr>
        <p:sp>
          <p:nvSpPr>
            <p:cNvPr id="175" name="Google Shape;175;p5"/>
            <p:cNvSpPr/>
            <p:nvPr/>
          </p:nvSpPr>
          <p:spPr>
            <a:xfrm>
              <a:off x="6096000" y="1428750"/>
              <a:ext cx="2762400" cy="3143400"/>
            </a:xfrm>
            <a:prstGeom prst="roundRect">
              <a:avLst>
                <a:gd fmla="val 3448" name="adj"/>
              </a:avLst>
            </a:prstGeom>
            <a:solidFill>
              <a:srgbClr val="22523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6096000" y="1428750"/>
              <a:ext cx="2762400" cy="571500"/>
            </a:xfrm>
            <a:prstGeom prst="roundRect">
              <a:avLst>
                <a:gd fmla="val 16666" name="adj"/>
              </a:avLst>
            </a:prstGeom>
            <a:solidFill>
              <a:srgbClr val="7C5CB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6096000" y="1714500"/>
              <a:ext cx="2762400" cy="285900"/>
            </a:xfrm>
            <a:prstGeom prst="rect">
              <a:avLst/>
            </a:prstGeom>
            <a:solidFill>
              <a:srgbClr val="7C5CB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5"/>
            <p:cNvSpPr txBox="1"/>
            <p:nvPr/>
          </p:nvSpPr>
          <p:spPr>
            <a:xfrm>
              <a:off x="6096000" y="142875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03</a:t>
              </a:r>
              <a:endParaRPr b="1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79" name="Google Shape;179;p5"/>
            <p:cNvSpPr txBox="1"/>
            <p:nvPr/>
          </p:nvSpPr>
          <p:spPr>
            <a:xfrm>
              <a:off x="6667500" y="1428750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CutMix + MixUp</a:t>
              </a:r>
              <a:endParaRPr b="1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80" name="Google Shape;180;p5"/>
            <p:cNvSpPr txBox="1"/>
            <p:nvPr/>
          </p:nvSpPr>
          <p:spPr>
            <a:xfrm>
              <a:off x="6238875" y="2143125"/>
              <a:ext cx="2476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5A623"/>
                  </a:solidFill>
                  <a:latin typeface="Calibri"/>
                  <a:ea typeface="Calibri"/>
                  <a:cs typeface="Calibri"/>
                  <a:sym typeface="Calibri"/>
                </a:rPr>
                <a:t>Confidence-level fix</a:t>
              </a:r>
              <a:endParaRPr b="1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B8D4C4"/>
                  </a:solidFill>
                  <a:latin typeface="Calibri"/>
                  <a:ea typeface="Calibri"/>
                  <a:cs typeface="Calibri"/>
                  <a:sym typeface="Calibri"/>
                </a:rPr>
                <a:t>Prevents overconfident majority class predictions (Soft Labels)</a:t>
              </a:r>
              <a:endParaRPr sz="1200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B8D4C4"/>
                  </a:solidFill>
                  <a:latin typeface="Calibri"/>
                  <a:ea typeface="Calibri"/>
                  <a:cs typeface="Calibri"/>
                  <a:sym typeface="Calibri"/>
                </a:rPr>
                <a:t>MixUp: </a:t>
              </a:r>
              <a:r>
                <a:rPr lang="en-US" sz="1200">
                  <a:solidFill>
                    <a:srgbClr val="B8D4C4"/>
                  </a:solidFill>
                  <a:latin typeface="Calibri"/>
                  <a:ea typeface="Calibri"/>
                  <a:cs typeface="Calibri"/>
                  <a:sym typeface="Calibri"/>
                </a:rPr>
                <a:t>Linearly interpolates two images (pixel-by-pixel) </a:t>
              </a:r>
              <a:endParaRPr sz="1200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lang="en-US" sz="1200">
                  <a:solidFill>
                    <a:srgbClr val="B8D4C4"/>
                  </a:solidFill>
                  <a:latin typeface="Calibri"/>
                  <a:ea typeface="Calibri"/>
                  <a:cs typeface="Calibri"/>
                  <a:sym typeface="Calibri"/>
                </a:rPr>
                <a:t>CutMix</a:t>
              </a:r>
              <a:r>
                <a:rPr lang="en-US" sz="1200">
                  <a:solidFill>
                    <a:srgbClr val="B8D4C4"/>
                  </a:solidFill>
                  <a:latin typeface="Calibri"/>
                  <a:ea typeface="Calibri"/>
                  <a:cs typeface="Calibri"/>
                  <a:sym typeface="Calibri"/>
                </a:rPr>
                <a:t>: Pastes a rectangular region from a shuffled image onto the current image</a:t>
              </a:r>
              <a:endParaRPr sz="1200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5"/>
          <p:cNvSpPr/>
          <p:nvPr/>
        </p:nvSpPr>
        <p:spPr>
          <a:xfrm>
            <a:off x="5953272" y="3959352"/>
            <a:ext cx="246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3190875" y="3505875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Label Smoothing ε=0.1 </a:t>
            </a:r>
            <a:endParaRPr b="1" sz="13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(Prevent overconfidence)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6390825" y="194775"/>
            <a:ext cx="1110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1A3C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0" y="914400"/>
            <a:ext cx="9144000" cy="63900"/>
          </a:xfrm>
          <a:prstGeom prst="rect">
            <a:avLst/>
          </a:prstGeom>
          <a:solidFill>
            <a:srgbClr val="E8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Augmentation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274320" y="1115568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3C2B"/>
                </a:solidFill>
                <a:latin typeface="Georgia"/>
                <a:ea typeface="Georgia"/>
                <a:cs typeface="Georgia"/>
                <a:sym typeface="Georgia"/>
              </a:rPr>
              <a:t>Standard Augmentations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3" name="Google Shape;193;p6"/>
          <p:cNvGrpSpPr/>
          <p:nvPr/>
        </p:nvGrpSpPr>
        <p:grpSpPr>
          <a:xfrm>
            <a:off x="365760" y="1095375"/>
            <a:ext cx="4095900" cy="3619500"/>
            <a:chOff x="365760" y="1095375"/>
            <a:chExt cx="4095900" cy="3619500"/>
          </a:xfrm>
        </p:grpSpPr>
        <p:sp>
          <p:nvSpPr>
            <p:cNvPr id="194" name="Google Shape;194;p6"/>
            <p:cNvSpPr/>
            <p:nvPr/>
          </p:nvSpPr>
          <p:spPr>
            <a:xfrm>
              <a:off x="365760" y="1095375"/>
              <a:ext cx="4095900" cy="3619500"/>
            </a:xfrm>
            <a:prstGeom prst="roundRect">
              <a:avLst>
                <a:gd fmla="val 2631" name="adj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365760" y="1095375"/>
              <a:ext cx="4095900" cy="381000"/>
            </a:xfrm>
            <a:prstGeom prst="roundRect">
              <a:avLst>
                <a:gd fmla="val 25000" name="adj"/>
              </a:avLst>
            </a:prstGeom>
            <a:solidFill>
              <a:srgbClr val="3DAA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365760" y="1381125"/>
              <a:ext cx="4095900" cy="95400"/>
            </a:xfrm>
            <a:prstGeom prst="rect">
              <a:avLst/>
            </a:prstGeom>
            <a:solidFill>
              <a:srgbClr val="3DAA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6"/>
            <p:cNvSpPr txBox="1"/>
            <p:nvPr/>
          </p:nvSpPr>
          <p:spPr>
            <a:xfrm>
              <a:off x="457200" y="1143000"/>
              <a:ext cx="390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Standard Augmentations</a:t>
              </a:r>
              <a:endParaRPr b="1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98" name="Google Shape;198;p6"/>
            <p:cNvSpPr txBox="1"/>
            <p:nvPr/>
          </p:nvSpPr>
          <p:spPr>
            <a:xfrm>
              <a:off x="457200" y="1571625"/>
              <a:ext cx="3905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A3C2B"/>
                  </a:solidFill>
                  <a:latin typeface="Calibri"/>
                  <a:ea typeface="Calibri"/>
                  <a:cs typeface="Calibri"/>
                  <a:sym typeface="Calibri"/>
                </a:rPr>
                <a:t>AutoAugment</a:t>
              </a:r>
              <a:br>
                <a:rPr lang="en-US" sz="1100">
                  <a:solidFill>
                    <a:srgbClr val="1A3C2B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000">
                  <a:solidFill>
                    <a:srgbClr val="3A3A3A"/>
                  </a:solidFill>
                  <a:latin typeface="Calibri"/>
                  <a:ea typeface="Calibri"/>
                  <a:cs typeface="Calibri"/>
                  <a:sym typeface="Calibri"/>
                </a:rPr>
                <a:t>Optimised CIFAR-10 policy (25 sub-policies)</a:t>
              </a:r>
              <a:endParaRPr sz="10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A3A3A"/>
                  </a:solidFill>
                  <a:latin typeface="Calibri"/>
                  <a:ea typeface="Calibri"/>
                  <a:cs typeface="Calibri"/>
                  <a:sym typeface="Calibri"/>
                </a:rPr>
                <a:t>Invert, Rotate etc. </a:t>
              </a:r>
              <a:endParaRPr sz="10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A3C2B"/>
                  </a:solidFill>
                  <a:latin typeface="Calibri"/>
                  <a:ea typeface="Calibri"/>
                  <a:cs typeface="Calibri"/>
                  <a:sym typeface="Calibri"/>
                </a:rPr>
                <a:t>ColorJitter</a:t>
              </a:r>
              <a:br>
                <a:rPr lang="en-US" sz="1100">
                  <a:solidFill>
                    <a:srgbClr val="1A3C2B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000">
                  <a:solidFill>
                    <a:srgbClr val="3A3A3A"/>
                  </a:solidFill>
                  <a:latin typeface="Calibri"/>
                  <a:ea typeface="Calibri"/>
                  <a:cs typeface="Calibri"/>
                  <a:sym typeface="Calibri"/>
                </a:rPr>
                <a:t>Brightness, contrast, saturation, hue</a:t>
              </a:r>
              <a:endParaRPr sz="10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70000"/>
                </a:lnSpc>
                <a:spcBef>
                  <a:spcPts val="112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050">
                  <a:solidFill>
                    <a:srgbClr val="3C4043"/>
                  </a:solidFill>
                  <a:highlight>
                    <a:srgbClr val="F1F3F4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T</a:t>
              </a:r>
              <a:r>
                <a:rPr lang="en-US" sz="1050">
                  <a:solidFill>
                    <a:srgbClr val="008ABC"/>
                  </a:solidFill>
                  <a:highlight>
                    <a:srgbClr val="F1F3F4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.</a:t>
              </a:r>
              <a:r>
                <a:rPr lang="en-US" sz="1050">
                  <a:solidFill>
                    <a:srgbClr val="3C4043"/>
                  </a:solidFill>
                  <a:highlight>
                    <a:srgbClr val="F1F3F4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ColorJitter(brightness</a:t>
              </a:r>
              <a:r>
                <a:rPr lang="en-US" sz="1050">
                  <a:solidFill>
                    <a:srgbClr val="008ABC"/>
                  </a:solidFill>
                  <a:highlight>
                    <a:srgbClr val="F1F3F4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lang="en-US" sz="1050">
                  <a:solidFill>
                    <a:srgbClr val="666666"/>
                  </a:solidFill>
                  <a:highlight>
                    <a:srgbClr val="F1F3F4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0.05</a:t>
              </a:r>
              <a:r>
                <a:rPr lang="en-US" sz="1050">
                  <a:solidFill>
                    <a:srgbClr val="3C4043"/>
                  </a:solidFill>
                  <a:highlight>
                    <a:srgbClr val="F1F3F4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, contrast</a:t>
              </a:r>
              <a:r>
                <a:rPr lang="en-US" sz="1050">
                  <a:solidFill>
                    <a:srgbClr val="008ABC"/>
                  </a:solidFill>
                  <a:highlight>
                    <a:srgbClr val="F1F3F4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lang="en-US" sz="1050">
                  <a:solidFill>
                    <a:srgbClr val="666666"/>
                  </a:solidFill>
                  <a:highlight>
                    <a:srgbClr val="F1F3F4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0.05</a:t>
              </a:r>
              <a:r>
                <a:rPr lang="en-US" sz="1050">
                  <a:solidFill>
                    <a:srgbClr val="3C4043"/>
                  </a:solidFill>
                  <a:highlight>
                    <a:srgbClr val="F1F3F4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, saturation</a:t>
              </a:r>
              <a:r>
                <a:rPr lang="en-US" sz="1050">
                  <a:solidFill>
                    <a:srgbClr val="008ABC"/>
                  </a:solidFill>
                  <a:highlight>
                    <a:srgbClr val="F1F3F4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lang="en-US" sz="1050">
                  <a:solidFill>
                    <a:srgbClr val="666666"/>
                  </a:solidFill>
                  <a:highlight>
                    <a:srgbClr val="F1F3F4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0.05</a:t>
              </a:r>
              <a:r>
                <a:rPr lang="en-US" sz="1050">
                  <a:solidFill>
                    <a:srgbClr val="3C4043"/>
                  </a:solidFill>
                  <a:highlight>
                    <a:srgbClr val="F1F3F4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, hue</a:t>
              </a:r>
              <a:r>
                <a:rPr lang="en-US" sz="1050">
                  <a:solidFill>
                    <a:srgbClr val="008ABC"/>
                  </a:solidFill>
                  <a:highlight>
                    <a:srgbClr val="F1F3F4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lang="en-US" sz="1050">
                  <a:solidFill>
                    <a:srgbClr val="666666"/>
                  </a:solidFill>
                  <a:highlight>
                    <a:srgbClr val="F1F3F4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0.01</a:t>
              </a:r>
              <a:r>
                <a:rPr lang="en-US" sz="1050">
                  <a:solidFill>
                    <a:srgbClr val="3C4043"/>
                  </a:solidFill>
                  <a:highlight>
                    <a:srgbClr val="F1F3F4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050">
                <a:solidFill>
                  <a:srgbClr val="3C4043"/>
                </a:solidFill>
                <a:highlight>
                  <a:srgbClr val="F1F3F4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1A3C2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" name="Google Shape;199;p6"/>
          <p:cNvGrpSpPr/>
          <p:nvPr/>
        </p:nvGrpSpPr>
        <p:grpSpPr>
          <a:xfrm>
            <a:off x="4682490" y="1103337"/>
            <a:ext cx="4095600" cy="1714500"/>
            <a:chOff x="4682490" y="1095375"/>
            <a:chExt cx="4095600" cy="1714500"/>
          </a:xfrm>
        </p:grpSpPr>
        <p:sp>
          <p:nvSpPr>
            <p:cNvPr id="200" name="Google Shape;200;p6"/>
            <p:cNvSpPr/>
            <p:nvPr/>
          </p:nvSpPr>
          <p:spPr>
            <a:xfrm>
              <a:off x="4682490" y="1095375"/>
              <a:ext cx="4095600" cy="1714500"/>
            </a:xfrm>
            <a:prstGeom prst="roundRect">
              <a:avLst>
                <a:gd fmla="val 5555" name="adj"/>
              </a:avLst>
            </a:prstGeom>
            <a:solidFill>
              <a:srgbClr val="1A3C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4682490" y="1095375"/>
              <a:ext cx="76200" cy="1714500"/>
            </a:xfrm>
            <a:prstGeom prst="roundRect">
              <a:avLst>
                <a:gd fmla="val 50000" name="adj"/>
              </a:avLst>
            </a:prstGeom>
            <a:solidFill>
              <a:srgbClr val="E8850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6"/>
            <p:cNvSpPr txBox="1"/>
            <p:nvPr/>
          </p:nvSpPr>
          <p:spPr>
            <a:xfrm>
              <a:off x="4857750" y="1190625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A623"/>
                  </a:solidFill>
                  <a:latin typeface="Georgia"/>
                  <a:ea typeface="Georgia"/>
                  <a:cs typeface="Georgia"/>
                  <a:sym typeface="Georgia"/>
                </a:rPr>
                <a:t>★ </a:t>
              </a:r>
              <a:r>
                <a:rPr b="1" lang="en-US">
                  <a:solidFill>
                    <a:srgbClr val="F5A623"/>
                  </a:solidFill>
                  <a:latin typeface="Georgia"/>
                  <a:ea typeface="Georgia"/>
                  <a:cs typeface="Georgia"/>
                  <a:sym typeface="Georgia"/>
                </a:rPr>
                <a:t>Grey Cutout</a:t>
              </a:r>
              <a:r>
                <a:rPr b="1" lang="en-US" sz="1400">
                  <a:solidFill>
                    <a:srgbClr val="F5A623"/>
                  </a:solidFill>
                  <a:latin typeface="Georgia"/>
                  <a:ea typeface="Georgia"/>
                  <a:cs typeface="Georgia"/>
                  <a:sym typeface="Georgia"/>
                </a:rPr>
                <a:t> — Key Innovation</a:t>
              </a:r>
              <a:endParaRPr b="1" sz="1400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03" name="Google Shape;203;p6"/>
            <p:cNvSpPr txBox="1"/>
            <p:nvPr/>
          </p:nvSpPr>
          <p:spPr>
            <a:xfrm>
              <a:off x="4857750" y="1524000"/>
              <a:ext cx="3714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B8D4C4"/>
                  </a:solidFill>
                  <a:latin typeface="Calibri"/>
                  <a:ea typeface="Calibri"/>
                  <a:cs typeface="Calibri"/>
                  <a:sym typeface="Calibri"/>
                </a:rPr>
                <a:t>Standard cutout fills with black. Our dataset has real 5–10px grey square artifacts. GreyCutout fills patches with the correctly normalized grey value:</a:t>
              </a:r>
              <a:endParaRPr sz="1100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4857750" y="2286000"/>
              <a:ext cx="3714900" cy="333300"/>
            </a:xfrm>
            <a:prstGeom prst="roundRect">
              <a:avLst>
                <a:gd fmla="val 14285" name="adj"/>
              </a:avLst>
            </a:prstGeom>
            <a:solidFill>
              <a:srgbClr val="0F2D1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4905375" y="2286000"/>
              <a:ext cx="3619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5A623"/>
                  </a:solidFill>
                  <a:latin typeface="Consolas"/>
                  <a:ea typeface="Consolas"/>
                  <a:cs typeface="Consolas"/>
                  <a:sym typeface="Consolas"/>
                </a:rPr>
                <a:t>GREY_FILL = [(0.5−μ)/σ] ≈ [0.035, 0.073, 0.205]</a:t>
              </a:r>
              <a:endParaRPr b="1" sz="100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06" name="Google Shape;206;p6"/>
          <p:cNvGrpSpPr/>
          <p:nvPr/>
        </p:nvGrpSpPr>
        <p:grpSpPr>
          <a:xfrm>
            <a:off x="4682490" y="3000375"/>
            <a:ext cx="4095600" cy="1714500"/>
            <a:chOff x="4682490" y="3000375"/>
            <a:chExt cx="4095600" cy="1714500"/>
          </a:xfrm>
        </p:grpSpPr>
        <p:sp>
          <p:nvSpPr>
            <p:cNvPr id="207" name="Google Shape;207;p6"/>
            <p:cNvSpPr/>
            <p:nvPr/>
          </p:nvSpPr>
          <p:spPr>
            <a:xfrm>
              <a:off x="4682490" y="3000375"/>
              <a:ext cx="4095600" cy="1714500"/>
            </a:xfrm>
            <a:prstGeom prst="roundRect">
              <a:avLst>
                <a:gd fmla="val 5555" name="adj"/>
              </a:avLst>
            </a:prstGeom>
            <a:solidFill>
              <a:srgbClr val="EEF5E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6"/>
            <p:cNvSpPr txBox="1"/>
            <p:nvPr/>
          </p:nvSpPr>
          <p:spPr>
            <a:xfrm>
              <a:off x="4857750" y="3095625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3C2B"/>
                  </a:solidFill>
                  <a:latin typeface="Georgia"/>
                  <a:ea typeface="Georgia"/>
                  <a:cs typeface="Georgia"/>
                  <a:sym typeface="Georgia"/>
                </a:rPr>
                <a:t>Batch-Level Mixing Strategy</a:t>
              </a:r>
              <a:endParaRPr b="1" sz="1300">
                <a:solidFill>
                  <a:srgbClr val="1A3C2B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4829175" y="3448050"/>
              <a:ext cx="342900" cy="342900"/>
            </a:xfrm>
            <a:prstGeom prst="ellipse">
              <a:avLst/>
            </a:prstGeom>
            <a:solidFill>
              <a:srgbClr val="3DAA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6"/>
            <p:cNvSpPr txBox="1"/>
            <p:nvPr/>
          </p:nvSpPr>
          <p:spPr>
            <a:xfrm>
              <a:off x="4829175" y="34480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25%</a:t>
              </a:r>
              <a:endParaRPr b="1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6"/>
            <p:cNvSpPr txBox="1"/>
            <p:nvPr/>
          </p:nvSpPr>
          <p:spPr>
            <a:xfrm>
              <a:off x="5286375" y="3476625"/>
              <a:ext cx="3333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A3A3A"/>
                  </a:solidFill>
                  <a:latin typeface="Calibri"/>
                  <a:ea typeface="Calibri"/>
                  <a:cs typeface="Calibri"/>
                  <a:sym typeface="Calibri"/>
                </a:rPr>
                <a:t>CutMix:</a:t>
              </a:r>
              <a:r>
                <a:rPr lang="en-US" sz="1000">
                  <a:solidFill>
                    <a:srgbClr val="3A3A3A"/>
                  </a:solidFill>
                  <a:latin typeface="Calibri"/>
                  <a:ea typeface="Calibri"/>
                  <a:cs typeface="Calibri"/>
                  <a:sym typeface="Calibri"/>
                </a:rPr>
                <a:t> Paste crop from shuffled image; labels mixed by area</a:t>
              </a:r>
              <a:endParaRPr sz="10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4829175" y="3829050"/>
              <a:ext cx="342900" cy="342900"/>
            </a:xfrm>
            <a:prstGeom prst="ellipse">
              <a:avLst/>
            </a:prstGeom>
            <a:solidFill>
              <a:srgbClr val="7C5CB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6"/>
            <p:cNvSpPr txBox="1"/>
            <p:nvPr/>
          </p:nvSpPr>
          <p:spPr>
            <a:xfrm>
              <a:off x="4829175" y="38290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25%</a:t>
              </a:r>
              <a:endParaRPr b="1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6"/>
            <p:cNvSpPr txBox="1"/>
            <p:nvPr/>
          </p:nvSpPr>
          <p:spPr>
            <a:xfrm>
              <a:off x="5286375" y="3857625"/>
              <a:ext cx="3333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A3A3A"/>
                  </a:solidFill>
                  <a:latin typeface="Calibri"/>
                  <a:ea typeface="Calibri"/>
                  <a:cs typeface="Calibri"/>
                  <a:sym typeface="Calibri"/>
                </a:rPr>
                <a:t>MixUp:</a:t>
              </a:r>
              <a:r>
                <a:rPr lang="en-US" sz="1000">
                  <a:solidFill>
                    <a:srgbClr val="3A3A3A"/>
                  </a:solidFill>
                  <a:latin typeface="Calibri"/>
                  <a:ea typeface="Calibri"/>
                  <a:cs typeface="Calibri"/>
                  <a:sym typeface="Calibri"/>
                </a:rPr>
                <a:t> Linear interpolate 2 images + distributions (α=0.4)</a:t>
              </a:r>
              <a:endParaRPr sz="10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4829175" y="4210050"/>
              <a:ext cx="342900" cy="342900"/>
            </a:xfrm>
            <a:prstGeom prst="ellipse">
              <a:avLst/>
            </a:prstGeom>
            <a:solidFill>
              <a:srgbClr val="E8850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4829175" y="42100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50%</a:t>
              </a:r>
              <a:endParaRPr b="1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6"/>
            <p:cNvSpPr txBox="1"/>
            <p:nvPr/>
          </p:nvSpPr>
          <p:spPr>
            <a:xfrm>
              <a:off x="5286375" y="4238625"/>
              <a:ext cx="3333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A3A3A"/>
                  </a:solidFill>
                  <a:latin typeface="Calibri"/>
                  <a:ea typeface="Calibri"/>
                  <a:cs typeface="Calibri"/>
                  <a:sym typeface="Calibri"/>
                </a:rPr>
                <a:t>Standard:</a:t>
              </a:r>
              <a:r>
                <a:rPr lang="en-US" sz="1000">
                  <a:solidFill>
                    <a:srgbClr val="3A3A3A"/>
                  </a:solidFill>
                  <a:latin typeface="Calibri"/>
                  <a:ea typeface="Calibri"/>
                  <a:cs typeface="Calibri"/>
                  <a:sym typeface="Calibri"/>
                </a:rPr>
                <a:t> BalancedSoftmaxLoss with label smoothing</a:t>
              </a:r>
              <a:endParaRPr sz="10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C2B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D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E8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Training Setup &amp; Stochastic Weight Averaging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274320" y="1097280"/>
            <a:ext cx="4160520" cy="1691640"/>
          </a:xfrm>
          <a:prstGeom prst="rect">
            <a:avLst/>
          </a:prstGeom>
          <a:solidFill>
            <a:srgbClr val="225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411480" y="1234440"/>
            <a:ext cx="502920" cy="502920"/>
          </a:xfrm>
          <a:prstGeom prst="ellipse">
            <a:avLst/>
          </a:prstGeom>
          <a:solidFill>
            <a:srgbClr val="3DA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411480" y="125272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1024128" y="123444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E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3DAA6E"/>
                </a:solidFill>
                <a:latin typeface="Georgia"/>
                <a:ea typeface="Georgia"/>
                <a:cs typeface="Georgia"/>
                <a:sym typeface="Georgia"/>
              </a:rPr>
              <a:t>Optimiser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438912" y="1691640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SGD · Momentum 0.9 · Nesterov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438912" y="194767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Base LR: 0.1 · Weight Decay: 5×10⁻⁴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438912" y="2203704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Gradient clipping at norm = 1.0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38912" y="245973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AMP via GradScaler throughout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4709160" y="1097280"/>
            <a:ext cx="4160520" cy="1691640"/>
          </a:xfrm>
          <a:prstGeom prst="rect">
            <a:avLst/>
          </a:prstGeom>
          <a:solidFill>
            <a:srgbClr val="225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4846320" y="1234440"/>
            <a:ext cx="502920" cy="502920"/>
          </a:xfrm>
          <a:prstGeom prst="ellipse">
            <a:avLst/>
          </a:prstGeom>
          <a:solidFill>
            <a:srgbClr val="E8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4846320" y="125272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5458968" y="123444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50A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E8850A"/>
                </a:solidFill>
                <a:latin typeface="Georgia"/>
                <a:ea typeface="Georgia"/>
                <a:cs typeface="Georgia"/>
                <a:sym typeface="Georgia"/>
              </a:rPr>
              <a:t>LR Schedule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873752" y="1691640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5-epoch linear warmup from 0 → 0.1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4873752" y="194767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Cosine annealing epochs 5→300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4873752" y="2203704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Smooth decay prevents sharp transitions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4873752" y="245973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Minimum LR effectively reaches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274320" y="2971800"/>
            <a:ext cx="4160520" cy="1691640"/>
          </a:xfrm>
          <a:prstGeom prst="rect">
            <a:avLst/>
          </a:prstGeom>
          <a:solidFill>
            <a:srgbClr val="225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411480" y="31089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411480" y="312724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1024128" y="310896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SWA Activation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38912" y="3566160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Starts at epoch 225 (75% of training)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38912" y="382219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Averages weights over final 75 epochs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38912" y="4078224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Cyclic SWALR = 0.01 · Anneal =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438912" y="433425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Seeks flatter, wider loss minima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709160" y="2971800"/>
            <a:ext cx="4160520" cy="1691640"/>
          </a:xfrm>
          <a:prstGeom prst="rect">
            <a:avLst/>
          </a:prstGeom>
          <a:solidFill>
            <a:srgbClr val="225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4846320" y="3108960"/>
            <a:ext cx="502920" cy="502920"/>
          </a:xfrm>
          <a:prstGeom prst="ellipse">
            <a:avLst/>
          </a:prstGeom>
          <a:solidFill>
            <a:srgbClr val="7C5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4846320" y="312724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5458968" y="310896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B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7C5CBF"/>
                </a:solidFill>
                <a:latin typeface="Georgia"/>
                <a:ea typeface="Georgia"/>
                <a:cs typeface="Georgia"/>
                <a:sym typeface="Georgia"/>
              </a:rPr>
              <a:t>BN Recalculation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4873752" y="3566160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After SWA weight averaging completes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4873752" y="382219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BatchNorm stats recalculated on full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4873752" y="4078224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training set for averaged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4873752" y="433425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Critical for distribution-shift robustness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SWA finds a broader, flatter loss landscape than the final SGD iterate → better calibration under distribution shift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5EC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E8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Test-Time Augmentation &amp; Ensemble Strategy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274320" y="1078992"/>
            <a:ext cx="4160520" cy="3886200"/>
          </a:xfrm>
          <a:prstGeom prst="rect">
            <a:avLst/>
          </a:prstGeom>
          <a:solidFill>
            <a:srgbClr val="1A3C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411480" y="117043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Per-Model TTA (×30)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411480" y="1627632"/>
            <a:ext cx="201168" cy="201168"/>
          </a:xfrm>
          <a:prstGeom prst="ellipse">
            <a:avLst/>
          </a:prstGeom>
          <a:solidFill>
            <a:srgbClr val="3DA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713232" y="159105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30 stochastic passes with full augmentation transform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11480" y="2176272"/>
            <a:ext cx="201168" cy="201168"/>
          </a:xfrm>
          <a:prstGeom prst="ellipse">
            <a:avLst/>
          </a:prstGeom>
          <a:solidFill>
            <a:srgbClr val="3DA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713232" y="213969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1 clean pass weighted ×3 to anchor predictions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411480" y="2724912"/>
            <a:ext cx="201168" cy="201168"/>
          </a:xfrm>
          <a:prstGeom prst="ellipse">
            <a:avLst/>
          </a:prstGeom>
          <a:solidFill>
            <a:srgbClr val="3DA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713232" y="268833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Combined: (Σ30 TTA passes + 3× clean) / 33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11480" y="3273552"/>
            <a:ext cx="201168" cy="201168"/>
          </a:xfrm>
          <a:prstGeom prst="ellipse">
            <a:avLst/>
          </a:prstGeom>
          <a:solidFill>
            <a:srgbClr val="3DA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713232" y="323697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Applied to each of the 3 independent models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11480" y="3822192"/>
            <a:ext cx="201168" cy="201168"/>
          </a:xfrm>
          <a:prstGeom prst="ellipse">
            <a:avLst/>
          </a:prstGeom>
          <a:solidFill>
            <a:srgbClr val="3DA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713232" y="378561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Total: 90 stochastic + 3 clean = 93 passes per image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11480" y="4233672"/>
            <a:ext cx="3840480" cy="566928"/>
          </a:xfrm>
          <a:prstGeom prst="rect">
            <a:avLst/>
          </a:prstGeom>
          <a:solidFill>
            <a:srgbClr val="0F2D1F"/>
          </a:solidFill>
          <a:ln cap="flat" cmpd="sng" w="12700">
            <a:solidFill>
              <a:srgbClr val="E8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457200" y="42976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P_model = (Σ³⁰ P_TTA + 3·P_clean) / 33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4709160" y="114300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3C2B"/>
                </a:solidFill>
                <a:latin typeface="Georgia"/>
                <a:ea typeface="Georgia"/>
                <a:cs typeface="Georgia"/>
                <a:sym typeface="Georgia"/>
              </a:rPr>
              <a:t>3-Seed Ensemble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709160" y="1554480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Seeds {23, 71, 314} re-initialize model, optimizer,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sampler and all random states independently.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Diversity: different augmentation sequences,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weight initializations, and sampling orders.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4709160" y="2560320"/>
            <a:ext cx="4114800" cy="530352"/>
          </a:xfrm>
          <a:prstGeom prst="rect">
            <a:avLst/>
          </a:prstGeom>
          <a:solidFill>
            <a:srgbClr val="F0F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4709160" y="2560320"/>
            <a:ext cx="82296" cy="530352"/>
          </a:xfrm>
          <a:prstGeom prst="rect">
            <a:avLst/>
          </a:prstGeom>
          <a:solidFill>
            <a:srgbClr val="3DA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4846320" y="258775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3C2B"/>
                </a:solidFill>
                <a:latin typeface="Calibri"/>
                <a:ea typeface="Calibri"/>
                <a:cs typeface="Calibri"/>
                <a:sym typeface="Calibri"/>
              </a:rPr>
              <a:t>Seed 23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4846320" y="2834640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50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850A"/>
                </a:solidFill>
                <a:latin typeface="Calibri"/>
                <a:ea typeface="Calibri"/>
                <a:cs typeface="Calibri"/>
                <a:sym typeface="Calibri"/>
              </a:rPr>
              <a:t>F1: 0.9206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6309360" y="2706624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Best epoch: 185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4709160" y="3218688"/>
            <a:ext cx="4114800" cy="530352"/>
          </a:xfrm>
          <a:prstGeom prst="rect">
            <a:avLst/>
          </a:prstGeom>
          <a:solidFill>
            <a:srgbClr val="F0F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4709160" y="3218688"/>
            <a:ext cx="82296" cy="530352"/>
          </a:xfrm>
          <a:prstGeom prst="rect">
            <a:avLst/>
          </a:prstGeom>
          <a:solidFill>
            <a:srgbClr val="E8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4846320" y="324612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3C2B"/>
                </a:solidFill>
                <a:latin typeface="Calibri"/>
                <a:ea typeface="Calibri"/>
                <a:cs typeface="Calibri"/>
                <a:sym typeface="Calibri"/>
              </a:rPr>
              <a:t>Seed 71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4846320" y="349300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50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850A"/>
                </a:solidFill>
                <a:latin typeface="Calibri"/>
                <a:ea typeface="Calibri"/>
                <a:cs typeface="Calibri"/>
                <a:sym typeface="Calibri"/>
              </a:rPr>
              <a:t>F1: 0.8931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6309360" y="336499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Best epoch: 165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4709160" y="3877056"/>
            <a:ext cx="4114800" cy="530352"/>
          </a:xfrm>
          <a:prstGeom prst="rect">
            <a:avLst/>
          </a:prstGeom>
          <a:solidFill>
            <a:srgbClr val="F0F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4709160" y="3877056"/>
            <a:ext cx="82296" cy="530352"/>
          </a:xfrm>
          <a:prstGeom prst="rect">
            <a:avLst/>
          </a:prstGeom>
          <a:solidFill>
            <a:srgbClr val="7C5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4846320" y="390448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C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3C2B"/>
                </a:solidFill>
                <a:latin typeface="Calibri"/>
                <a:ea typeface="Calibri"/>
                <a:cs typeface="Calibri"/>
                <a:sym typeface="Calibri"/>
              </a:rPr>
              <a:t>Seed 314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4846320" y="4151376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50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850A"/>
                </a:solidFill>
                <a:latin typeface="Calibri"/>
                <a:ea typeface="Calibri"/>
                <a:cs typeface="Calibri"/>
                <a:sym typeface="Calibri"/>
              </a:rPr>
              <a:t>F1: 0.9146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6309360" y="402336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Best epoch: 195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4709160" y="4572000"/>
            <a:ext cx="4114800" cy="420624"/>
          </a:xfrm>
          <a:prstGeom prst="rect">
            <a:avLst/>
          </a:prstGeom>
          <a:solidFill>
            <a:srgbClr val="3DA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4754880" y="4608576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Final: avg(P₁, P₂, P₃) → argmax → submission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1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25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E8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Results &amp; Performance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274320" y="1097280"/>
            <a:ext cx="2743200" cy="2011680"/>
          </a:xfrm>
          <a:prstGeom prst="rect">
            <a:avLst/>
          </a:prstGeom>
          <a:solidFill>
            <a:srgbClr val="3DA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274320" y="137160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0.9206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274320" y="219456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Single Seed F1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(Seed 23, Epoch 185)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274320" y="3246120"/>
            <a:ext cx="2743200" cy="1417320"/>
          </a:xfrm>
          <a:prstGeom prst="rect">
            <a:avLst/>
          </a:prstGeom>
          <a:solidFill>
            <a:srgbClr val="1A3C2B"/>
          </a:solidFill>
          <a:ln cap="flat" cmpd="sng" w="12700">
            <a:solidFill>
              <a:srgbClr val="E88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274320" y="342900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&gt; 0.95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274320" y="4069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Ensemble Target F1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3337560" y="1115568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Seed-by-Seed Breakdown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3337560" y="1536192"/>
            <a:ext cx="1353312" cy="420624"/>
          </a:xfrm>
          <a:prstGeom prst="rect">
            <a:avLst/>
          </a:prstGeom>
          <a:solidFill>
            <a:srgbClr val="2E7D52"/>
          </a:solidFill>
          <a:ln cap="flat" cmpd="sng" w="12700">
            <a:solidFill>
              <a:srgbClr val="2A4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3337560" y="1581912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4709160" y="1536192"/>
            <a:ext cx="1353312" cy="420624"/>
          </a:xfrm>
          <a:prstGeom prst="rect">
            <a:avLst/>
          </a:prstGeom>
          <a:solidFill>
            <a:srgbClr val="2E7D52"/>
          </a:solidFill>
          <a:ln cap="flat" cmpd="sng" w="12700">
            <a:solidFill>
              <a:srgbClr val="2A4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4709160" y="1581912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Seed 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6080760" y="1536192"/>
            <a:ext cx="1353312" cy="420624"/>
          </a:xfrm>
          <a:prstGeom prst="rect">
            <a:avLst/>
          </a:prstGeom>
          <a:solidFill>
            <a:srgbClr val="2E7D52"/>
          </a:solidFill>
          <a:ln cap="flat" cmpd="sng" w="12700">
            <a:solidFill>
              <a:srgbClr val="2A4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6080760" y="1581912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Seed 71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7452360" y="1536192"/>
            <a:ext cx="1353312" cy="420624"/>
          </a:xfrm>
          <a:prstGeom prst="rect">
            <a:avLst/>
          </a:prstGeom>
          <a:solidFill>
            <a:srgbClr val="2E7D52"/>
          </a:solidFill>
          <a:ln cap="flat" cmpd="sng" w="12700">
            <a:solidFill>
              <a:srgbClr val="2A4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7452360" y="1581912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Seed 314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3337560" y="1993392"/>
            <a:ext cx="1353312" cy="420624"/>
          </a:xfrm>
          <a:prstGeom prst="rect">
            <a:avLst/>
          </a:prstGeom>
          <a:solidFill>
            <a:srgbClr val="22523A"/>
          </a:solidFill>
          <a:ln cap="flat" cmpd="sng" w="12700">
            <a:solidFill>
              <a:srgbClr val="2A4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3337560" y="2039112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 F1 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709160" y="1993392"/>
            <a:ext cx="1353312" cy="420624"/>
          </a:xfrm>
          <a:prstGeom prst="rect">
            <a:avLst/>
          </a:prstGeom>
          <a:solidFill>
            <a:srgbClr val="22523A"/>
          </a:solidFill>
          <a:ln cap="flat" cmpd="sng" w="12700">
            <a:solidFill>
              <a:srgbClr val="2A4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4709160" y="2039112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0.9206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6080760" y="1993392"/>
            <a:ext cx="1353312" cy="420624"/>
          </a:xfrm>
          <a:prstGeom prst="rect">
            <a:avLst/>
          </a:prstGeom>
          <a:solidFill>
            <a:srgbClr val="22523A"/>
          </a:solidFill>
          <a:ln cap="flat" cmpd="sng" w="12700">
            <a:solidFill>
              <a:srgbClr val="2A4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6080760" y="2039112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0.8931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7452360" y="1993392"/>
            <a:ext cx="1353312" cy="420624"/>
          </a:xfrm>
          <a:prstGeom prst="rect">
            <a:avLst/>
          </a:prstGeom>
          <a:solidFill>
            <a:srgbClr val="22523A"/>
          </a:solidFill>
          <a:ln cap="flat" cmpd="sng" w="12700">
            <a:solidFill>
              <a:srgbClr val="2A4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7452360" y="2039112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0.9146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3337560" y="2450592"/>
            <a:ext cx="1353312" cy="420624"/>
          </a:xfrm>
          <a:prstGeom prst="rect">
            <a:avLst/>
          </a:prstGeom>
          <a:solidFill>
            <a:srgbClr val="1A3C2B"/>
          </a:solidFill>
          <a:ln cap="flat" cmpd="sng" w="12700">
            <a:solidFill>
              <a:srgbClr val="2A4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3337560" y="2496312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Epoch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4709160" y="2450592"/>
            <a:ext cx="1353312" cy="420624"/>
          </a:xfrm>
          <a:prstGeom prst="rect">
            <a:avLst/>
          </a:prstGeom>
          <a:solidFill>
            <a:srgbClr val="1A3C2B"/>
          </a:solidFill>
          <a:ln cap="flat" cmpd="sng" w="12700">
            <a:solidFill>
              <a:srgbClr val="2A4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4709160" y="2496312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6080760" y="2450592"/>
            <a:ext cx="1353312" cy="420624"/>
          </a:xfrm>
          <a:prstGeom prst="rect">
            <a:avLst/>
          </a:prstGeom>
          <a:solidFill>
            <a:srgbClr val="1A3C2B"/>
          </a:solidFill>
          <a:ln cap="flat" cmpd="sng" w="12700">
            <a:solidFill>
              <a:srgbClr val="2A4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6080760" y="2496312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7452360" y="2450592"/>
            <a:ext cx="1353312" cy="420624"/>
          </a:xfrm>
          <a:prstGeom prst="rect">
            <a:avLst/>
          </a:prstGeom>
          <a:solidFill>
            <a:srgbClr val="1A3C2B"/>
          </a:solidFill>
          <a:ln cap="flat" cmpd="sng" w="12700">
            <a:solidFill>
              <a:srgbClr val="2A4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7452360" y="2496312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3337560" y="2907792"/>
            <a:ext cx="1353312" cy="420624"/>
          </a:xfrm>
          <a:prstGeom prst="rect">
            <a:avLst/>
          </a:prstGeom>
          <a:solidFill>
            <a:srgbClr val="22523A"/>
          </a:solidFill>
          <a:ln cap="flat" cmpd="sng" w="12700">
            <a:solidFill>
              <a:srgbClr val="2A4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3337560" y="2953512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SWA Phase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4709160" y="2907792"/>
            <a:ext cx="1353312" cy="420624"/>
          </a:xfrm>
          <a:prstGeom prst="rect">
            <a:avLst/>
          </a:prstGeom>
          <a:solidFill>
            <a:srgbClr val="22523A"/>
          </a:solidFill>
          <a:ln cap="flat" cmpd="sng" w="12700">
            <a:solidFill>
              <a:srgbClr val="2A4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4709160" y="2953512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Active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6080760" y="2907792"/>
            <a:ext cx="1353312" cy="420624"/>
          </a:xfrm>
          <a:prstGeom prst="rect">
            <a:avLst/>
          </a:prstGeom>
          <a:solidFill>
            <a:srgbClr val="22523A"/>
          </a:solidFill>
          <a:ln cap="flat" cmpd="sng" w="12700">
            <a:solidFill>
              <a:srgbClr val="2A4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6080760" y="2953512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Active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7452360" y="2907792"/>
            <a:ext cx="1353312" cy="420624"/>
          </a:xfrm>
          <a:prstGeom prst="rect">
            <a:avLst/>
          </a:prstGeom>
          <a:solidFill>
            <a:srgbClr val="22523A"/>
          </a:solidFill>
          <a:ln cap="flat" cmpd="sng" w="12700">
            <a:solidFill>
              <a:srgbClr val="2A4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7452360" y="2953512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Active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3337560" y="3364992"/>
            <a:ext cx="1353312" cy="420624"/>
          </a:xfrm>
          <a:prstGeom prst="rect">
            <a:avLst/>
          </a:prstGeom>
          <a:solidFill>
            <a:srgbClr val="1A3C2B"/>
          </a:solidFill>
          <a:ln cap="flat" cmpd="sng" w="12700">
            <a:solidFill>
              <a:srgbClr val="2A4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3337560" y="3410712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TTA Rounds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4709160" y="3364992"/>
            <a:ext cx="1353312" cy="420624"/>
          </a:xfrm>
          <a:prstGeom prst="rect">
            <a:avLst/>
          </a:prstGeom>
          <a:solidFill>
            <a:srgbClr val="1A3C2B"/>
          </a:solidFill>
          <a:ln cap="flat" cmpd="sng" w="12700">
            <a:solidFill>
              <a:srgbClr val="2A4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4709160" y="3410712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6080760" y="3364992"/>
            <a:ext cx="1353312" cy="420624"/>
          </a:xfrm>
          <a:prstGeom prst="rect">
            <a:avLst/>
          </a:prstGeom>
          <a:solidFill>
            <a:srgbClr val="1A3C2B"/>
          </a:solidFill>
          <a:ln cap="flat" cmpd="sng" w="12700">
            <a:solidFill>
              <a:srgbClr val="2A4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6080760" y="3410712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7452360" y="3364992"/>
            <a:ext cx="1353312" cy="420624"/>
          </a:xfrm>
          <a:prstGeom prst="rect">
            <a:avLst/>
          </a:prstGeom>
          <a:solidFill>
            <a:srgbClr val="1A3C2B"/>
          </a:solidFill>
          <a:ln cap="flat" cmpd="sng" w="12700">
            <a:solidFill>
              <a:srgbClr val="2A4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7452360" y="3410712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Mean F1 across seeds: 0.9094  ·  Gap to target: 0.0406  ·  Expected closed by ensemble + TTA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1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0"/>
          <p:cNvSpPr/>
          <p:nvPr/>
        </p:nvSpPr>
        <p:spPr>
          <a:xfrm>
            <a:off x="0" y="0"/>
            <a:ext cx="9144000" cy="1691640"/>
          </a:xfrm>
          <a:prstGeom prst="rect">
            <a:avLst/>
          </a:prstGeom>
          <a:solidFill>
            <a:srgbClr val="1A3C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0" y="1645920"/>
            <a:ext cx="9144000" cy="64008"/>
          </a:xfrm>
          <a:prstGeom prst="rect">
            <a:avLst/>
          </a:prstGeom>
          <a:solidFill>
            <a:srgbClr val="E8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6583680" y="-548640"/>
            <a:ext cx="3657600" cy="3657600"/>
          </a:xfrm>
          <a:prstGeom prst="ellipse">
            <a:avLst/>
          </a:prstGeom>
          <a:solidFill>
            <a:srgbClr val="22523A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457200" y="109728"/>
            <a:ext cx="7315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Key Takeaways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ShiftGuard10 v7  —  WideResNet-40-10 Ensemble System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274320" y="1874520"/>
            <a:ext cx="4160520" cy="1261872"/>
          </a:xfrm>
          <a:prstGeom prst="rect">
            <a:avLst/>
          </a:prstGeom>
          <a:solidFill>
            <a:srgbClr val="225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274320" y="1874520"/>
            <a:ext cx="82296" cy="1261872"/>
          </a:xfrm>
          <a:prstGeom prst="rect">
            <a:avLst/>
          </a:prstGeom>
          <a:solidFill>
            <a:srgbClr val="3DA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8" name="Google Shape;36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00253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0"/>
          <p:cNvSpPr/>
          <p:nvPr/>
        </p:nvSpPr>
        <p:spPr>
          <a:xfrm>
            <a:off x="950976" y="196596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E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3DAA6E"/>
                </a:solidFill>
                <a:latin typeface="Georgia"/>
                <a:ea typeface="Georgia"/>
                <a:cs typeface="Georgia"/>
                <a:sym typeface="Georgia"/>
              </a:rPr>
              <a:t>Robustness is Everything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457200" y="2404872"/>
            <a:ext cx="38587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GreyCutout, SWA &amp; TTA were decisive for handling distribution shift — not just raw model capacity.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4709160" y="1874520"/>
            <a:ext cx="4160520" cy="1261872"/>
          </a:xfrm>
          <a:prstGeom prst="rect">
            <a:avLst/>
          </a:prstGeom>
          <a:solidFill>
            <a:srgbClr val="225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4709160" y="1874520"/>
            <a:ext cx="82296" cy="1261872"/>
          </a:xfrm>
          <a:prstGeom prst="rect">
            <a:avLst/>
          </a:prstGeom>
          <a:solidFill>
            <a:srgbClr val="E885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3" name="Google Shape;37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200253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0"/>
          <p:cNvSpPr/>
          <p:nvPr/>
        </p:nvSpPr>
        <p:spPr>
          <a:xfrm>
            <a:off x="5385816" y="196596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50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E8850A"/>
                </a:solidFill>
                <a:latin typeface="Georgia"/>
                <a:ea typeface="Georgia"/>
                <a:cs typeface="Georgia"/>
                <a:sym typeface="Georgia"/>
              </a:rPr>
              <a:t>Dual Imbalance Defense Works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4892040" y="2404872"/>
            <a:ext cx="38587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WeightedSampler + BalancedSoftmaxLoss created compounded protection against the 50:1 skew.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274320" y="3291840"/>
            <a:ext cx="4160520" cy="1261872"/>
          </a:xfrm>
          <a:prstGeom prst="rect">
            <a:avLst/>
          </a:prstGeom>
          <a:solidFill>
            <a:srgbClr val="225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274320" y="3291840"/>
            <a:ext cx="82296" cy="1261872"/>
          </a:xfrm>
          <a:prstGeom prst="rect">
            <a:avLst/>
          </a:prstGeom>
          <a:solidFill>
            <a:srgbClr val="7C5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8" name="Google Shape;37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34198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0"/>
          <p:cNvSpPr/>
          <p:nvPr/>
        </p:nvSpPr>
        <p:spPr>
          <a:xfrm>
            <a:off x="950976" y="338328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B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C5CBF"/>
                </a:solidFill>
                <a:latin typeface="Georgia"/>
                <a:ea typeface="Georgia"/>
                <a:cs typeface="Georgia"/>
                <a:sym typeface="Georgia"/>
              </a:rPr>
              <a:t>Layered Strategy &gt; Single Fix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457200" y="3822192"/>
            <a:ext cx="38587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Each component (SWA, TTA, ensemble, augmentation) addresses a specific failure mode.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4709160" y="3291840"/>
            <a:ext cx="4160520" cy="1261872"/>
          </a:xfrm>
          <a:prstGeom prst="rect">
            <a:avLst/>
          </a:prstGeom>
          <a:solidFill>
            <a:srgbClr val="2252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4709160" y="3291840"/>
            <a:ext cx="82296" cy="1261872"/>
          </a:xfrm>
          <a:prstGeom prst="rect">
            <a:avLst/>
          </a:prstGeom>
          <a:solidFill>
            <a:srgbClr val="D94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3" name="Google Shape;38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2040" y="34198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0"/>
          <p:cNvSpPr/>
          <p:nvPr/>
        </p:nvSpPr>
        <p:spPr>
          <a:xfrm>
            <a:off x="5385816" y="338328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F3D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D94F3D"/>
                </a:solidFill>
                <a:latin typeface="Georgia"/>
                <a:ea typeface="Georgia"/>
                <a:cs typeface="Georgia"/>
                <a:sym typeface="Georgia"/>
              </a:rPr>
              <a:t>Future: Push Beyond 0.95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4892040" y="3822192"/>
            <a:ext cx="38587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4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4C4"/>
                </a:solidFill>
                <a:latin typeface="Calibri"/>
                <a:ea typeface="Calibri"/>
                <a:cs typeface="Calibri"/>
                <a:sym typeface="Calibri"/>
              </a:rPr>
              <a:t>Explore larger backbones, extended ensembles (5-seed), adaptive TTA, and EfficientNet-style heads.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IIT Kanpur · Group 8  |  Aarnav Gupta · Aarush Singh · Kaushey · Prince · Sushant Kumar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2026-04-11T08:10:26Z</dcterms:created>
  <dc:creator>PptxGenJS</dc:creator>
</cp:coreProperties>
</file>